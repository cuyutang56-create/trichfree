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13a2e500-e2f8-c52c-e49a-8a2368f8eb8d}">
          <p14:sldIdLst>
            <p14:sldId id="256"/>
            <p14:sldId id="257"/>
          </p14:sldIdLst>
        </p14:section>
        <p14:section name="Solution" id="{95560158-d691-3580-bbf2-b449e30e378b}">
          <p14:sldIdLst>
            <p14:sldId id="258"/>
            <p14:sldId id="259"/>
          </p14:sldIdLst>
        </p14:section>
        <p14:section name="Evidence" id="{d8cb280e-c2ef-d43f-3583-c03fd10d39f2}">
          <p14:sldIdLst>
            <p14:sldId id="260"/>
          </p14:sldIdLst>
        </p14:section>
        <p14:section name="Business" id="{2e8e399b-a4a9-e4e2-587d-6f7f3a628594}">
          <p14:sldIdLst>
            <p14:sldId id="261"/>
            <p14:sldId id="262"/>
          </p14:sldIdLst>
        </p14:section>
        <p14:section name="Ask" id="{bcfddd91-7970-cb51-2292-7e00143b746c}">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Open with a pause.
"Quick question: did you touch your hair in the last five minutes? ... Most of us honestly don't know — and for most of us it doesn't matter. But for about one in sixty adults, that unnoticed touch is where trichotillomania begins: hair pulling they desperately want to stop, and often don't notice starting. We're TrichFree, and we build support for exactly that moment."
Notes: "1 in 60" = 1.7% current prevalence (Grant, Dougherty &amp; Chamberlain 2020, n = 10,169 US adults). Do not share founder lived experience unless the founder has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"Trichotillomania affects about 1.7 percent of adults. It typically begins around seventeen, just as people arrive at university, and one in four say it interferes with their work every day. The best-evidenced treatment, habit reversal training, starts with awareness. But much pulling is automatic: it happens while you read or study, and you only notice afterwards. Therapy is weekly. Urges are not. A practitioner with more than thirty years of experience wrote to us — [read the quote slowly]. That is what we had already begun to build."
Evidence: prevalence 1.7%, mean onset 17.7 y (Grant et al. 2020, PMC7212053). 23% daily interference with job duties (Trichotillomania Impact Project, Woods et al. 2006). HRT effect: meta-analysis of 24 RCTs, large benefit vs control (PMC12854921).
The quotation is one expert's opinion and an intervention idea, not evidence of effectiveness. Do not name or describe the practitioner beyond the attribution; this is early interest, not a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Point at the left panel first, then walk down the three steps.
"This is TrichFree: a browser extension that uses the webcam already on your laptop. On the left is what it sees: twenty-one points on your hand, your face as a reference frame, and a hair-segmentation model that knows where your hair is, even a lock held beside your face. You choose your areas: crown, hairline, temples, strands, brows, lashes. When your fingers pinch there for about a second, it doesn't buzz at you. It plays a soft chime, then your own voice: 'Hey, it's me. Your hand is up there.' Everything runs on the laptop. Video is never stored or sent."
Implementation references (claude/release-audit branch): MediaPipe hand/face landmarkers + hair_segmenter in src/workers/vision.worker.ts; zone geometry src/core/zones.ts + faceFrame.ts; hair contact src/core/hair.ts; scoring/dwell src/core/scorer.ts, temporal.ts, detectorConfig.ts (dwell 0.8 s pinch / 1.5 s open hand at Balanced); reminder engine src/core/engine.ts; clip choice src/core/clipPicker.ts; voice prompts src/shared/prompts.ts.
The left image is drawn from the real zone code on the synthetic fixture pinch-at-crown.json; the hair mask is a real model output from test/hair/masks-demo.json (no pixels stored). Screenshots are from the real extension build.
Option: replace the left panel with a 10-second live demo clip recorded on a real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s]
"Here's the landscape. Trackers and timers work after the moment. Wearables catch the moment, but with a generic buzz, and cost around a hundred and fifty US dollars. Therapy is deeply personal, but it lives between sessions. TrichFree sits alone in the top right: in the moment, and personal, on hardware students already own. Honestly, it only works at a desk, and we haven't yet measured real-world accuracy."
Evidence: HabitAware Keen2 launched at US$179 with an optional subscription (2020); other listings show ~US$149–150. Check habitaware.com for the current price before pitching. Keen2 detects gestures and vibrates; it is the closest direct competitor, so don't dismiss it — its strength is portability.
Positions are the team's qualitative judgment, not measured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s]
"And it's real. A working extension and website. 283 automated tests. An evaluation harness that runs our real detector on simulated movements, even slow, noisy cameras: 350 of 350 simulated reaches caught, zero false alerts on drinking or resting your chin. That's synthetic, not real-world; measuring that is next. Our first real-user test failed: it missed a strand pulled beside the face. Within days we'd added hair segmentation. We listen, and we fix."
Evidence (claude/release-audit branch):
- Tests: IMPACT_READINESS.md §7 lists 192 unit, 57 database and 34 browser tests in CI (283 total). 193 unit tests re-run and passing on 2026-10-29; the DB and browser suites were not re-run for this deck.
- Detection: docs/DETECTION_REPORT.md: 7/7 reaches in every condition; 350/350 over 50 seeds with noise or 20% hand misses; 343/350 at 3 fps + noise + misses; 0 false alerts in 250 negative runs. Synthetic landmarks only. Known false positive: scratching the scalp.
- First user test 2026-10-05: missed strand pull, which led to hair segmentation (DECISIONS.md). Not yet re-tested with that user.
- Audit: docs/INDEPENDENT_RELEASE_AUDIT.md: 1 high, 4 medium, 6 low found and fixed. Internal, not an external review.
- 100+ founder trials: founder-reported; no logged results, labels or participant counts in the repository. Don't quote an accuracy figure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s]
"Support shouldn't depend on what you can afford. Individuals get the core tool free, and that's sustainable because all the AI runs on the user's own laptop. No cloud GPUs, no video storage: each extra user costs us almost nothing. Revenue comes from institutions, like university wellbeing services and BFRB organisations offering supported access, and later from practitioners. Our beachhead is NUS: on prevalence alone, roughly six hundred students. Whether institutions will pay is our biggest open question. Testing that is exactly why we need business mentorship."
Why this answers NUSC's 'strong potential for business development' criterion:
1) Near-zero marginal cost (on-device inference; voice and video never uploaded), so a free tier doesn't burn cash.
2) B2B2C channel: one institutional deal reaches many users, and universities already fund student wellbeing.
3) Platform: the face-relative hand-tracking engine generalises to other BFRBs (skin picking, nail biting). Not built; say so.
4) Clear, testable hypotheses for incubation to resolve: price point, buyer (wellbeing office vs counselling vs BFRB org), and procurement.
Assumptions: Singapore ~80k = 1.7% × ~4.8M adults (rough); NUS ~680 = 1.7% × ~40k students (check the current enrolment). Institutional willingness to pay is a hypothesis. No clinic or university has committed. Do not imply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s]
"We'll climb one step at a time. First, label our hundred-plus founder trials and test with new users, to measure real accuracy. Second, an ethics-reviewed fourteen-day pilot, already built into the extension, comparing a chime with your own voice. Third, distribution trials with institutions. Fourth, practitioner-informed personalisation. Every step has a metric, and we never confuse engagement with clinical effect."
Pilot mode exists in code (src/core/arms.ts): days 1–3 silent baseline; days 4–14 randomise each episode to CHIME or VOICE in permuted blocks of 4 seeded per participant; outcome = hand down within 10 s. The release audit (docs/INDEPENDENT_RELEASE_AUDIT.md) says 'no-go yet' for a real-user pilot until its listed actions are done; ethics review is required first.
Dates are the team's targets. Adjust them to the incubation timeline in the Info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"We're [names]: an engineer who built the vision pipeline, and a statistician who designed the evaluation. We kept going through hackathon setbacks because this matters to us. We can write the software. What we can't do alone is run an ethical study, reach institutions and build clinical partnerships, and that's what NUSC unlocks. Tonight at 11:42, someone's hand will drift to their hair. We want the next thing they hear to be their own voice, saying: it's okay. I've got you. Thank you."
Fill in founder names, photos and one-line backgrounds. If NUSC funding is discussed, name concrete uses, sized from the Info Kit: pilot participant reimbursement and ethics administration; real-laptop testing across skin tones, hairstyles, head coverings and lighting; external security and accessibility review; Chrome Web Store, hosting and the database; structured user interviews.
Incubation selection and the later funding decision are separate. This slide asks for incubation; funding is framed as what it would unlock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F_LIGHT">
    <p:bg>
      <p:bgPr>
        <a:solidFill>
          <a:srgbClr val="FBF8F4"/>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TrichFree  ·  NUSC Impact Incubator 2026</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F_LIGHT_TITLE">
    <p:bg>
      <p:bgPr>
        <a:solidFill>
          <a:srgbClr val="FBF8F4"/>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TrichFree  ·  NUSC Impact Incubator 2026</a:t>
            </a:r>
            <a:endParaRPr lang="en-US" sz="1000" dirty="0"/>
          </a:p>
        </p:txBody>
      </p:sp>
      <p:sp>
        <p:nvSpPr>
          <p:cNvPr id="3" name="Text 1"/>
          <p:cNvSpPr/>
          <p:nvPr>
            <p:ph idx="101"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F_DARK">
    <p:bg>
      <p:bgPr>
        <a:solidFill>
          <a:srgbClr val="2A2640"/>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TrichFree  ·  NUSC Impact Incubator 2026</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5A8E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TrichFree logo">    </p:cNvPr>
          <p:cNvPicPr>
            <a:picLocks noChangeAspect="1"/>
          </p:cNvPicPr>
          <p:nvPr/>
        </p:nvPicPr>
        <p:blipFill>
          <a:blip r:embed="rId1"/>
          <a:stretch>
            <a:fillRect/>
          </a:stretch>
        </p:blipFill>
        <p:spPr>
          <a:xfrm>
            <a:off x="640080" y="603504"/>
            <a:ext cx="310896" cy="310896"/>
          </a:xfrm>
          <a:prstGeom prst="rect">
            <a:avLst/>
          </a:prstGeom>
        </p:spPr>
      </p:pic>
      <p:sp>
        <p:nvSpPr>
          <p:cNvPr id="3" name="Eyebrow"/>
          <p:cNvSpPr txBox="1"/>
          <p:nvPr/>
        </p:nvSpPr>
        <p:spPr>
          <a:xfrm>
            <a:off x="1051560" y="640080"/>
            <a:ext cx="54864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TRICHFREE  ·  NUSC IMPACT INCUBATOR 2026</a:t>
            </a:r>
            <a:endParaRPr lang="en-US" sz="1200" dirty="0"/>
          </a:p>
        </p:txBody>
      </p:sp>
      <p:sp>
        <p:nvSpPr>
          <p:cNvPr id="4" name="Headline"/>
          <p:cNvSpPr txBox="1"/>
          <p:nvPr/>
        </p:nvSpPr>
        <p:spPr>
          <a:xfrm>
            <a:off x="640080" y="1417320"/>
            <a:ext cx="5852160" cy="1920240"/>
          </a:xfrm>
          <a:prstGeom prst="rect">
            <a:avLst/>
          </a:prstGeom>
          <a:noFill/>
          <a:ln/>
        </p:spPr>
        <p:txBody>
          <a:bodyPr wrap="square" lIns="0" tIns="0" rIns="0" bIns="0" rtlCol="0" anchor="b"/>
          <a:lstStyle/>
          <a:p>
            <a:pPr indent="0" marL="0">
              <a:buNone/>
            </a:pPr>
            <a:r>
              <a:rPr lang="en-US" sz="5400" b="1" dirty="0">
                <a:solidFill>
                  <a:schemeClr val="bg1"/>
                </a:solidFill>
                <a:latin typeface="+mj-lt" pitchFamily="34" charset="0"/>
                <a:ea typeface="+mj-lt" pitchFamily="34" charset="-122"/>
                <a:cs typeface="+mj-lt" pitchFamily="34" charset="-120"/>
              </a:rPr>
              <a:t>It starts before you notice</a:t>
            </a:r>
            <a:endParaRPr lang="en-US" sz="5400" dirty="0"/>
          </a:p>
        </p:txBody>
      </p:sp>
      <p:sp>
        <p:nvSpPr>
          <p:cNvPr id="5" name="Sub"/>
          <p:cNvSpPr txBox="1"/>
          <p:nvPr/>
        </p:nvSpPr>
        <p:spPr>
          <a:xfrm>
            <a:off x="640080" y="3611880"/>
            <a:ext cx="5394960" cy="914400"/>
          </a:xfrm>
          <a:prstGeom prst="rect">
            <a:avLst/>
          </a:prstGeom>
          <a:noFill/>
          <a:ln/>
        </p:spPr>
        <p:txBody>
          <a:bodyPr wrap="square" lIns="0" tIns="0" rIns="0" bIns="0" rtlCol="0" anchor="t"/>
          <a:lstStyle/>
          <a:p>
            <a:pPr indent="0" marL="0">
              <a:buNone/>
            </a:pPr>
            <a:r>
              <a:rPr lang="en-US" sz="2000" dirty="0">
                <a:solidFill>
                  <a:srgbClr val="C9BFF3"/>
                </a:solidFill>
              </a:rPr>
              <a:t>Studying. Reading. Working. And somewhere in the middle, a hand drifts to the hair.</a:t>
            </a:r>
            <a:endParaRPr lang="en-US" sz="2000" dirty="0"/>
          </a:p>
        </p:txBody>
      </p:sp>
      <p:sp>
        <p:nvSpPr>
          <p:cNvPr id="6" name="Tagline"/>
          <p:cNvSpPr txBox="1"/>
          <p:nvPr/>
        </p:nvSpPr>
        <p:spPr>
          <a:xfrm>
            <a:off x="640080" y="4937760"/>
            <a:ext cx="5669280" cy="457200"/>
          </a:xfrm>
          <a:prstGeom prst="rect">
            <a:avLst/>
          </a:prstGeom>
          <a:noFill/>
          <a:ln/>
        </p:spPr>
        <p:txBody>
          <a:bodyPr wrap="square" lIns="0" tIns="0" rIns="0" bIns="0" rtlCol="0" anchor="t"/>
          <a:lstStyle/>
          <a:p>
            <a:pPr indent="0" marL="0">
              <a:buNone/>
            </a:pPr>
            <a:r>
              <a:rPr lang="en-US" sz="2200" b="1" dirty="0">
                <a:solidFill>
                  <a:schemeClr val="bg1"/>
                </a:solidFill>
              </a:rPr>
              <a:t>TrichFree: when your hand moves, </a:t>
            </a:r>
            <a:pPr indent="0" marL="0">
              <a:buNone/>
            </a:pPr>
            <a:r>
              <a:rPr lang="en-US" sz="2200" b="1" dirty="0">
                <a:solidFill>
                  <a:schemeClr val="accent3"/>
                </a:solidFill>
              </a:rPr>
              <a:t>support responds.</a:t>
            </a:r>
            <a:endParaRPr lang="en-US" sz="2200" dirty="0"/>
          </a:p>
        </p:txBody>
      </p:sp>
      <p:pic>
        <p:nvPicPr>
          <p:cNvPr id="7" name="Hero illustration" descr="Line drawing: a student at a laptop late at night, one hand raised to the crown of the head, circled">    </p:cNvPr>
          <p:cNvPicPr>
            <a:picLocks noChangeAspect="1"/>
          </p:cNvPicPr>
          <p:nvPr/>
        </p:nvPicPr>
        <p:blipFill>
          <a:blip r:embed="rId2"/>
          <a:stretch>
            <a:fillRect/>
          </a:stretch>
        </p:blipFill>
        <p:spPr>
          <a:xfrm>
            <a:off x="6400800" y="914400"/>
            <a:ext cx="5394960" cy="5120640"/>
          </a:xfrm>
          <a:prstGeom prst="rect">
            <a:avLst/>
          </a:prstGeom>
        </p:spPr>
      </p:pic>
      <p:sp>
        <p:nvSpPr>
          <p:cNvPr id="8" name="Clock"/>
          <p:cNvSpPr txBox="1"/>
          <p:nvPr/>
        </p:nvSpPr>
        <p:spPr>
          <a:xfrm>
            <a:off x="9692640" y="640080"/>
            <a:ext cx="1920240" cy="457200"/>
          </a:xfrm>
          <a:prstGeom prst="rect">
            <a:avLst/>
          </a:prstGeom>
          <a:noFill/>
          <a:ln/>
        </p:spPr>
        <p:txBody>
          <a:bodyPr wrap="square" lIns="0" tIns="0" rIns="0" bIns="0" rtlCol="0" anchor="t"/>
          <a:lstStyle/>
          <a:p>
            <a:pPr algn="r" indent="0" marL="0">
              <a:buNone/>
            </a:pPr>
            <a:r>
              <a:rPr lang="en-US" sz="2600" b="1" dirty="0">
                <a:solidFill>
                  <a:schemeClr val="accent3"/>
                </a:solidFill>
              </a:rPr>
              <a:t>11:42 pm</a:t>
            </a:r>
            <a:endParaRPr lang="en-US" sz="26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5A8EC"/>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Help arrives after the moment has passed</a:t>
            </a:r>
            <a:endParaRPr lang="en-US" sz="3600" dirty="0"/>
          </a:p>
        </p:txBody>
      </p:sp>
      <p:sp>
        <p:nvSpPr>
          <p:cNvPr id="3" name="Stat 1"/>
          <p:cNvSpPr txBox="1"/>
          <p:nvPr/>
        </p:nvSpPr>
        <p:spPr>
          <a:xfrm>
            <a:off x="548640" y="1463040"/>
            <a:ext cx="4206240" cy="658368"/>
          </a:xfrm>
          <a:prstGeom prst="rect">
            <a:avLst/>
          </a:prstGeom>
          <a:noFill/>
          <a:ln/>
        </p:spPr>
        <p:txBody>
          <a:bodyPr wrap="square" lIns="0" tIns="0" rIns="0" bIns="0" rtlCol="0" anchor="t"/>
          <a:lstStyle/>
          <a:p>
            <a:pPr indent="0" marL="0">
              <a:buNone/>
            </a:pPr>
            <a:r>
              <a:rPr lang="en-US" sz="4400" b="1" dirty="0">
                <a:solidFill>
                  <a:schemeClr val="accent1"/>
                </a:solidFill>
              </a:rPr>
              <a:t>1.7%</a:t>
            </a:r>
            <a:endParaRPr lang="en-US" sz="4400" dirty="0"/>
          </a:p>
        </p:txBody>
      </p:sp>
      <p:sp>
        <p:nvSpPr>
          <p:cNvPr id="4" name="Stat 1 caption"/>
          <p:cNvSpPr txBox="1"/>
          <p:nvPr/>
        </p:nvSpPr>
        <p:spPr>
          <a:xfrm>
            <a:off x="548640" y="2139696"/>
            <a:ext cx="4206240" cy="457200"/>
          </a:xfrm>
          <a:prstGeom prst="rect">
            <a:avLst/>
          </a:prstGeom>
          <a:noFill/>
          <a:ln/>
        </p:spPr>
        <p:txBody>
          <a:bodyPr wrap="square" lIns="0" tIns="0" rIns="0" bIns="0" rtlCol="0" anchor="t"/>
          <a:lstStyle/>
          <a:p>
            <a:pPr indent="0" marL="0">
              <a:buNone/>
            </a:pPr>
            <a:r>
              <a:rPr lang="en-US" sz="1500" dirty="0">
                <a:solidFill>
                  <a:schemeClr val="tx1"/>
                </a:solidFill>
              </a:rPr>
              <a:t>of adults live with trichotillomania: about 1 in 60</a:t>
            </a:r>
            <a:endParaRPr lang="en-US" sz="1500" dirty="0"/>
          </a:p>
        </p:txBody>
      </p:sp>
      <p:sp>
        <p:nvSpPr>
          <p:cNvPr id="5" name="Stat 2"/>
          <p:cNvSpPr txBox="1"/>
          <p:nvPr/>
        </p:nvSpPr>
        <p:spPr>
          <a:xfrm>
            <a:off x="548640" y="2761488"/>
            <a:ext cx="4206240" cy="658368"/>
          </a:xfrm>
          <a:prstGeom prst="rect">
            <a:avLst/>
          </a:prstGeom>
          <a:noFill/>
          <a:ln/>
        </p:spPr>
        <p:txBody>
          <a:bodyPr wrap="square" lIns="0" tIns="0" rIns="0" bIns="0" rtlCol="0" anchor="t"/>
          <a:lstStyle/>
          <a:p>
            <a:pPr indent="0" marL="0">
              <a:buNone/>
            </a:pPr>
            <a:r>
              <a:rPr lang="en-US" sz="4400" b="1" dirty="0">
                <a:solidFill>
                  <a:schemeClr val="accent1"/>
                </a:solidFill>
              </a:rPr>
              <a:t>17.7</a:t>
            </a:r>
            <a:endParaRPr lang="en-US" sz="4400" dirty="0"/>
          </a:p>
        </p:txBody>
      </p:sp>
      <p:sp>
        <p:nvSpPr>
          <p:cNvPr id="6" name="Stat 2 caption"/>
          <p:cNvSpPr txBox="1"/>
          <p:nvPr/>
        </p:nvSpPr>
        <p:spPr>
          <a:xfrm>
            <a:off x="548640" y="3438144"/>
            <a:ext cx="4206240" cy="457200"/>
          </a:xfrm>
          <a:prstGeom prst="rect">
            <a:avLst/>
          </a:prstGeom>
          <a:noFill/>
          <a:ln/>
        </p:spPr>
        <p:txBody>
          <a:bodyPr wrap="square" lIns="0" tIns="0" rIns="0" bIns="0" rtlCol="0" anchor="t"/>
          <a:lstStyle/>
          <a:p>
            <a:pPr indent="0" marL="0">
              <a:buNone/>
            </a:pPr>
            <a:r>
              <a:rPr lang="en-US" sz="1500" dirty="0">
                <a:solidFill>
                  <a:schemeClr val="tx1"/>
                </a:solidFill>
              </a:rPr>
              <a:t>mean age it begins, right at university age</a:t>
            </a:r>
            <a:endParaRPr lang="en-US" sz="1500" dirty="0"/>
          </a:p>
        </p:txBody>
      </p:sp>
      <p:sp>
        <p:nvSpPr>
          <p:cNvPr id="7" name="Stat 3"/>
          <p:cNvSpPr txBox="1"/>
          <p:nvPr/>
        </p:nvSpPr>
        <p:spPr>
          <a:xfrm>
            <a:off x="548640" y="4059936"/>
            <a:ext cx="4206240" cy="658368"/>
          </a:xfrm>
          <a:prstGeom prst="rect">
            <a:avLst/>
          </a:prstGeom>
          <a:noFill/>
          <a:ln/>
        </p:spPr>
        <p:txBody>
          <a:bodyPr wrap="square" lIns="0" tIns="0" rIns="0" bIns="0" rtlCol="0" anchor="t"/>
          <a:lstStyle/>
          <a:p>
            <a:pPr indent="0" marL="0">
              <a:buNone/>
            </a:pPr>
            <a:r>
              <a:rPr lang="en-US" sz="4400" b="1" dirty="0">
                <a:solidFill>
                  <a:schemeClr val="accent1"/>
                </a:solidFill>
              </a:rPr>
              <a:t>1 in 4</a:t>
            </a:r>
            <a:endParaRPr lang="en-US" sz="4400" dirty="0"/>
          </a:p>
        </p:txBody>
      </p:sp>
      <p:sp>
        <p:nvSpPr>
          <p:cNvPr id="8" name="Stat 3 caption"/>
          <p:cNvSpPr txBox="1"/>
          <p:nvPr/>
        </p:nvSpPr>
        <p:spPr>
          <a:xfrm>
            <a:off x="548640" y="4736592"/>
            <a:ext cx="4206240" cy="457200"/>
          </a:xfrm>
          <a:prstGeom prst="rect">
            <a:avLst/>
          </a:prstGeom>
          <a:noFill/>
          <a:ln/>
        </p:spPr>
        <p:txBody>
          <a:bodyPr wrap="square" lIns="0" tIns="0" rIns="0" bIns="0" rtlCol="0" anchor="t"/>
          <a:lstStyle/>
          <a:p>
            <a:pPr indent="0" marL="0">
              <a:buNone/>
            </a:pPr>
            <a:r>
              <a:rPr lang="en-US" sz="1500" dirty="0">
                <a:solidFill>
                  <a:schemeClr val="tx1"/>
                </a:solidFill>
              </a:rPr>
              <a:t>report daily interference with their work</a:t>
            </a:r>
            <a:endParaRPr lang="en-US" sz="1500" dirty="0"/>
          </a:p>
        </p:txBody>
      </p:sp>
      <p:sp>
        <p:nvSpPr>
          <p:cNvPr id="9" name="Stat sources"/>
          <p:cNvSpPr txBox="1"/>
          <p:nvPr/>
        </p:nvSpPr>
        <p:spPr>
          <a:xfrm>
            <a:off x="548640" y="5394960"/>
            <a:ext cx="4206240" cy="457200"/>
          </a:xfrm>
          <a:prstGeom prst="rect">
            <a:avLst/>
          </a:prstGeom>
          <a:noFill/>
          <a:ln/>
        </p:spPr>
        <p:txBody>
          <a:bodyPr wrap="square" lIns="0" tIns="0" rIns="0" bIns="0" rtlCol="0" anchor="t"/>
          <a:lstStyle/>
          <a:p>
            <a:pPr indent="0" marL="0">
              <a:buNone/>
            </a:pPr>
            <a:r>
              <a:rPr lang="en-US" sz="1000" dirty="0">
                <a:solidFill>
                  <a:schemeClr val="accent6"/>
                </a:solidFill>
              </a:rPr>
              <a:t>Sources: Grant, Dougherty &amp; Chamberlain, Psychiatry Res. 2020 (n = 10,169); Woods et al., Trichotillomania Impact Project, J Clin Psychiatry 2006.</a:t>
            </a:r>
            <a:endParaRPr lang="en-US" sz="1000" dirty="0"/>
          </a:p>
        </p:txBody>
      </p:sp>
      <p:sp>
        <p:nvSpPr>
          <p:cNvPr id="10" name="Quote panel"/>
          <p:cNvSpPr/>
          <p:nvPr/>
        </p:nvSpPr>
        <p:spPr>
          <a:xfrm>
            <a:off x="5120640" y="1463040"/>
            <a:ext cx="6492240" cy="3931920"/>
          </a:xfrm>
          <a:prstGeom prst="roundRect">
            <a:avLst>
              <a:gd name="adj" fmla="val 5814"/>
            </a:avLst>
          </a:prstGeom>
          <a:solidFill>
            <a:schemeClr val="accent4"/>
          </a:solidFill>
          <a:ln/>
        </p:spPr>
      </p:sp>
      <p:sp>
        <p:nvSpPr>
          <p:cNvPr id="11" name="Quote mark"/>
          <p:cNvSpPr txBox="1"/>
          <p:nvPr/>
        </p:nvSpPr>
        <p:spPr>
          <a:xfrm>
            <a:off x="5440680" y="1417320"/>
            <a:ext cx="914400" cy="914400"/>
          </a:xfrm>
          <a:prstGeom prst="rect">
            <a:avLst/>
          </a:prstGeom>
          <a:noFill/>
          <a:ln/>
        </p:spPr>
        <p:txBody>
          <a:bodyPr wrap="square" lIns="0" tIns="0" rIns="0" bIns="0" rtlCol="0" anchor="t"/>
          <a:lstStyle/>
          <a:p>
            <a:pPr indent="0" marL="0">
              <a:buNone/>
            </a:pPr>
            <a:r>
              <a:rPr lang="en-US" sz="9600" b="1" dirty="0">
                <a:solidFill>
                  <a:schemeClr val="accent1"/>
                </a:solidFill>
                <a:latin typeface="Cambria" pitchFamily="34" charset="0"/>
                <a:ea typeface="Cambria" pitchFamily="34" charset="-122"/>
                <a:cs typeface="Cambria" pitchFamily="34" charset="-120"/>
              </a:rPr>
              <a:t>“</a:t>
            </a:r>
            <a:endParaRPr lang="en-US" sz="9600" dirty="0"/>
          </a:p>
        </p:txBody>
      </p:sp>
      <p:sp>
        <p:nvSpPr>
          <p:cNvPr id="12" name="Practitioner quote"/>
          <p:cNvSpPr txBox="1"/>
          <p:nvPr/>
        </p:nvSpPr>
        <p:spPr>
          <a:xfrm>
            <a:off x="5532120" y="2240280"/>
            <a:ext cx="5715000" cy="2331720"/>
          </a:xfrm>
          <a:prstGeom prst="rect">
            <a:avLst/>
          </a:prstGeom>
          <a:noFill/>
          <a:ln/>
        </p:spPr>
        <p:txBody>
          <a:bodyPr wrap="square" lIns="0" tIns="0" rIns="0" bIns="0" rtlCol="0" anchor="t"/>
          <a:lstStyle/>
          <a:p>
            <a:pPr indent="0" marL="0">
              <a:buNone/>
            </a:pPr>
            <a:r>
              <a:rPr lang="en-US" sz="2100" i="1" dirty="0">
                <a:solidFill>
                  <a:schemeClr val="tx1"/>
                </a:solidFill>
                <a:latin typeface="Cambria" pitchFamily="34" charset="0"/>
                <a:ea typeface="Cambria" pitchFamily="34" charset="-122"/>
                <a:cs typeface="Cambria" pitchFamily="34" charset="-120"/>
              </a:rPr>
              <a:t>If you could get each individual to record something for themselves which would help them at the moment of the behaviour and somehow AUTOMATICALLY play it back to them when they began pulling, I think it would stop them.</a:t>
            </a:r>
            <a:endParaRPr lang="en-US" sz="2100" dirty="0"/>
          </a:p>
        </p:txBody>
      </p:sp>
      <p:sp>
        <p:nvSpPr>
          <p:cNvPr id="13" name="Quote attribution"/>
          <p:cNvSpPr txBox="1"/>
          <p:nvPr/>
        </p:nvSpPr>
        <p:spPr>
          <a:xfrm>
            <a:off x="5532120" y="4709160"/>
            <a:ext cx="5715000" cy="502920"/>
          </a:xfrm>
          <a:prstGeom prst="rect">
            <a:avLst/>
          </a:prstGeom>
          <a:noFill/>
          <a:ln/>
        </p:spPr>
        <p:txBody>
          <a:bodyPr wrap="square" lIns="0" tIns="0" rIns="0" bIns="0" rtlCol="0" anchor="t"/>
          <a:lstStyle/>
          <a:p>
            <a:pPr indent="0" marL="0">
              <a:buNone/>
            </a:pPr>
            <a:r>
              <a:rPr lang="en-US" sz="1400" b="1" dirty="0">
                <a:solidFill>
                  <a:schemeClr val="tx2"/>
                </a:solidFill>
              </a:rPr>
              <a:t>Practitioner with 30+ years of experience supporting people with trichotillomania</a:t>
            </a:r>
            <a:endParaRPr lang="en-US" sz="1400" dirty="0"/>
          </a:p>
        </p:txBody>
      </p:sp>
      <p:sp>
        <p:nvSpPr>
          <p:cNvPr id="14" name="Gap line"/>
          <p:cNvSpPr txBox="1"/>
          <p:nvPr/>
        </p:nvSpPr>
        <p:spPr>
          <a:xfrm>
            <a:off x="548640" y="5870448"/>
            <a:ext cx="11064240" cy="411480"/>
          </a:xfrm>
          <a:prstGeom prst="rect">
            <a:avLst/>
          </a:prstGeom>
          <a:noFill/>
          <a:ln/>
        </p:spPr>
        <p:txBody>
          <a:bodyPr wrap="square" lIns="0" tIns="0" rIns="0" bIns="0" rtlCol="0" anchor="t"/>
          <a:lstStyle/>
          <a:p>
            <a:pPr indent="0" marL="0">
              <a:buNone/>
            </a:pPr>
            <a:r>
              <a:rPr lang="en-US" sz="1500" b="1" dirty="0">
                <a:solidFill>
                  <a:schemeClr val="tx1"/>
                </a:solidFill>
              </a:rPr>
              <a:t>Habit-reversal therapy works, and its first step is awareness. </a:t>
            </a:r>
            <a:pPr indent="0" marL="0">
              <a:buNone/>
            </a:pPr>
            <a:r>
              <a:rPr lang="en-US" sz="1500" dirty="0">
                <a:solidFill>
                  <a:schemeClr val="tx1"/>
                </a:solidFill>
              </a:rPr>
              <a:t>But automatic pulling skips that step, and therapy is weekly while urges are not.</a:t>
            </a:r>
            <a:endParaRPr lang="en-US" sz="15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Meet TrichFree</a:t>
            </a:r>
            <a:endParaRPr lang="en-US" sz="3600" dirty="0"/>
          </a:p>
        </p:txBody>
      </p:sp>
      <p:sp>
        <p:nvSpPr>
          <p:cNvPr id="3" name="Subtitle"/>
          <p:cNvSpPr txBox="1"/>
          <p:nvPr/>
        </p:nvSpPr>
        <p:spPr>
          <a:xfrm>
            <a:off x="548640" y="1097280"/>
            <a:ext cx="11064240" cy="365760"/>
          </a:xfrm>
          <a:prstGeom prst="rect">
            <a:avLst/>
          </a:prstGeom>
          <a:noFill/>
          <a:ln/>
        </p:spPr>
        <p:txBody>
          <a:bodyPr wrap="square" lIns="0" tIns="0" rIns="0" bIns="0" rtlCol="0" anchor="t"/>
          <a:lstStyle/>
          <a:p>
            <a:pPr indent="0" marL="0">
              <a:buNone/>
            </a:pPr>
            <a:r>
              <a:rPr lang="en-US" sz="1600" i="1" dirty="0">
                <a:solidFill>
                  <a:schemeClr val="tx2"/>
                </a:solidFill>
              </a:rPr>
              <a:t>A browser extension that uses the webcam you already have. When your hand moves, support responds.</a:t>
            </a:r>
            <a:endParaRPr lang="en-US" sz="1600" dirty="0"/>
          </a:p>
        </p:txBody>
      </p:sp>
      <p:sp>
        <p:nvSpPr>
          <p:cNvPr id="4" name="Sees panel"/>
          <p:cNvSpPr/>
          <p:nvPr/>
        </p:nvSpPr>
        <p:spPr>
          <a:xfrm>
            <a:off x="548640" y="1645920"/>
            <a:ext cx="4572000" cy="4572000"/>
          </a:xfrm>
          <a:prstGeom prst="roundRect">
            <a:avLst>
              <a:gd name="adj" fmla="val 4000"/>
            </a:avLst>
          </a:prstGeom>
          <a:solidFill>
            <a:schemeClr val="tx1"/>
          </a:solidFill>
          <a:ln/>
        </p:spPr>
      </p:sp>
      <p:sp>
        <p:nvSpPr>
          <p:cNvPr id="5" name="Sees label"/>
          <p:cNvSpPr txBox="1"/>
          <p:nvPr/>
        </p:nvSpPr>
        <p:spPr>
          <a:xfrm>
            <a:off x="777240" y="1810512"/>
            <a:ext cx="41148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WHAT TRICHFREE SEES</a:t>
            </a:r>
            <a:endParaRPr lang="en-US" sz="1200" dirty="0"/>
          </a:p>
        </p:txBody>
      </p:sp>
      <p:pic>
        <p:nvPicPr>
          <p:cNvPr id="6" name="Pipeline view" descr="Detector view: 21 hand landmarks pinching inside the crown zone, with hairline, sides, brow and lash zones drawn relative to the face">    </p:cNvPr>
          <p:cNvPicPr>
            <a:picLocks noChangeAspect="1"/>
          </p:cNvPicPr>
          <p:nvPr/>
        </p:nvPicPr>
        <p:blipFill>
          <a:blip r:embed="rId1"/>
          <a:stretch>
            <a:fillRect/>
          </a:stretch>
        </p:blipFill>
        <p:spPr>
          <a:xfrm>
            <a:off x="777240" y="2176272"/>
            <a:ext cx="2697480" cy="2697480"/>
          </a:xfrm>
          <a:prstGeom prst="rect">
            <a:avLst/>
          </a:prstGeom>
        </p:spPr>
      </p:pic>
      <p:pic>
        <p:nvPicPr>
          <p:cNvPr id="7" name="Hair mask" descr="Hair segmentation confidence mask from the team demo video">    </p:cNvPr>
          <p:cNvPicPr>
            <a:picLocks noChangeAspect="1"/>
          </p:cNvPicPr>
          <p:nvPr/>
        </p:nvPicPr>
        <p:blipFill>
          <a:blip r:embed="rId2"/>
          <a:stretch>
            <a:fillRect/>
          </a:stretch>
        </p:blipFill>
        <p:spPr>
          <a:xfrm>
            <a:off x="3611880" y="2176272"/>
            <a:ext cx="1325880" cy="996696"/>
          </a:xfrm>
          <a:prstGeom prst="rect">
            <a:avLst/>
          </a:prstGeom>
        </p:spPr>
      </p:pic>
      <p:sp>
        <p:nvSpPr>
          <p:cNvPr id="8" name="Hair caption"/>
          <p:cNvSpPr txBox="1"/>
          <p:nvPr/>
        </p:nvSpPr>
        <p:spPr>
          <a:xfrm>
            <a:off x="3611880" y="3246120"/>
            <a:ext cx="1325880" cy="914400"/>
          </a:xfrm>
          <a:prstGeom prst="rect">
            <a:avLst/>
          </a:prstGeom>
          <a:noFill/>
          <a:ln/>
        </p:spPr>
        <p:txBody>
          <a:bodyPr wrap="square" lIns="0" tIns="0" rIns="0" bIns="0" rtlCol="0" anchor="t"/>
          <a:lstStyle/>
          <a:p>
            <a:pPr indent="0" marL="0">
              <a:buNone/>
            </a:pPr>
            <a:r>
              <a:rPr lang="en-US" sz="1000" dirty="0">
                <a:solidFill>
                  <a:srgbClr val="C9BFF3"/>
                </a:solidFill>
              </a:rPr>
              <a:t>Hair mask from the hair-segmentation model on our demo video</a:t>
            </a:r>
            <a:endParaRPr lang="en-US" sz="1000" dirty="0"/>
          </a:p>
        </p:txBody>
      </p:sp>
      <p:sp>
        <p:nvSpPr>
          <p:cNvPr id="9" name="Sees caption"/>
          <p:cNvSpPr txBox="1"/>
          <p:nvPr/>
        </p:nvSpPr>
        <p:spPr>
          <a:xfrm>
            <a:off x="777240" y="5029200"/>
            <a:ext cx="4160520" cy="1051560"/>
          </a:xfrm>
          <a:prstGeom prst="rect">
            <a:avLst/>
          </a:prstGeom>
          <a:noFill/>
          <a:ln/>
        </p:spPr>
        <p:txBody>
          <a:bodyPr wrap="square" lIns="0" tIns="0" rIns="0" bIns="0" rtlCol="0" anchor="t"/>
          <a:lstStyle/>
          <a:p>
            <a:pPr indent="0" marL="0">
              <a:buNone/>
            </a:pPr>
            <a:r>
              <a:rPr lang="en-US" sz="1200" b="1" dirty="0">
                <a:solidFill>
                  <a:schemeClr val="bg1"/>
                </a:solidFill>
              </a:rPr>
              <a:t>21 hand points · face reference frame · hair segmentation</a:t>
            </a:r>
            <a:endParaRPr lang="en-US" sz="1200" dirty="0"/>
          </a:p>
          <a:p>
            <a:pPr indent="0" marL="0">
              <a:buNone/>
            </a:pPr>
            <a:r>
              <a:rPr lang="en-US" sz="1200" dirty="0">
                <a:solidFill>
                  <a:srgbClr val="C9BFF3"/>
                </a:solidFill>
              </a:rPr>
              <a:t>Zones are measured in face units, so they follow your head as you move. Shown: a synthetic test recording.</a:t>
            </a:r>
            <a:endParaRPr lang="en-US" sz="1200" dirty="0"/>
          </a:p>
        </p:txBody>
      </p:sp>
      <p:sp>
        <p:nvSpPr>
          <p:cNvPr id="10" name="Step 1 badge"/>
          <p:cNvSpPr/>
          <p:nvPr/>
        </p:nvSpPr>
        <p:spPr>
          <a:xfrm>
            <a:off x="5440680" y="1691640"/>
            <a:ext cx="438912" cy="438912"/>
          </a:xfrm>
          <a:prstGeom prst="ellipse">
            <a:avLst/>
          </a:prstGeom>
          <a:solidFill>
            <a:schemeClr val="accent1"/>
          </a:solidFill>
          <a:ln/>
        </p:spPr>
      </p:sp>
      <p:sp>
        <p:nvSpPr>
          <p:cNvPr id="11" name="Step 1 number"/>
          <p:cNvSpPr txBox="1"/>
          <p:nvPr/>
        </p:nvSpPr>
        <p:spPr>
          <a:xfrm>
            <a:off x="5440680" y="169164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2" name="Step 1 title"/>
          <p:cNvSpPr txBox="1"/>
          <p:nvPr/>
        </p:nvSpPr>
        <p:spPr>
          <a:xfrm>
            <a:off x="6035040" y="1691640"/>
            <a:ext cx="2468880" cy="411480"/>
          </a:xfrm>
          <a:prstGeom prst="rect">
            <a:avLst/>
          </a:prstGeom>
          <a:noFill/>
          <a:ln/>
        </p:spPr>
        <p:txBody>
          <a:bodyPr wrap="square" lIns="0" tIns="0" rIns="0" bIns="0" rtlCol="0" anchor="t"/>
          <a:lstStyle/>
          <a:p>
            <a:pPr indent="0" marL="0">
              <a:buNone/>
            </a:pPr>
            <a:r>
              <a:rPr lang="en-US" sz="1900" b="1" dirty="0">
                <a:solidFill>
                  <a:schemeClr val="tx1"/>
                </a:solidFill>
              </a:rPr>
              <a:t>Notice</a:t>
            </a:r>
            <a:endParaRPr lang="en-US" sz="1900" dirty="0"/>
          </a:p>
        </p:txBody>
      </p:sp>
      <p:sp>
        <p:nvSpPr>
          <p:cNvPr id="13" name="Step 1 text"/>
          <p:cNvSpPr txBox="1"/>
          <p:nvPr/>
        </p:nvSpPr>
        <p:spPr>
          <a:xfrm>
            <a:off x="6035040" y="2121408"/>
            <a:ext cx="2514600" cy="960120"/>
          </a:xfrm>
          <a:prstGeom prst="rect">
            <a:avLst/>
          </a:prstGeom>
          <a:noFill/>
          <a:ln/>
        </p:spPr>
        <p:txBody>
          <a:bodyPr wrap="square" lIns="0" tIns="0" rIns="0" bIns="0" rtlCol="0" anchor="t"/>
          <a:lstStyle/>
          <a:p>
            <a:pPr indent="0" marL="0">
              <a:buNone/>
            </a:pPr>
            <a:r>
              <a:rPr lang="en-US" sz="1300" dirty="0">
                <a:solidFill>
                  <a:schemeClr val="accent6"/>
                </a:solidFill>
              </a:rPr>
              <a:t>Finds a pinch in the areas you choose, including a lock held beside the face. A 0.8–1.5 s pause keeps brief touches quiet.</a:t>
            </a:r>
            <a:endParaRPr lang="en-US" sz="1300" dirty="0"/>
          </a:p>
        </p:txBody>
      </p:sp>
      <p:pic>
        <p:nvPicPr>
          <p:cNvPr id="14" name="Step 1 screenshot" descr="Screenshot: Notice">    </p:cNvPr>
          <p:cNvPicPr>
            <a:picLocks noChangeAspect="1"/>
          </p:cNvPicPr>
          <p:nvPr/>
        </p:nvPicPr>
        <p:blipFill>
          <a:blip r:embed="rId3"/>
          <a:stretch>
            <a:fillRect/>
          </a:stretch>
        </p:blipFill>
        <p:spPr>
          <a:xfrm>
            <a:off x="8503920" y="1675638"/>
            <a:ext cx="3154680" cy="1266444"/>
          </a:xfrm>
          <a:prstGeom prst="rect">
            <a:avLst/>
          </a:prstGeom>
        </p:spPr>
      </p:pic>
      <p:sp>
        <p:nvSpPr>
          <p:cNvPr id="15" name="Step 2 badge"/>
          <p:cNvSpPr/>
          <p:nvPr/>
        </p:nvSpPr>
        <p:spPr>
          <a:xfrm>
            <a:off x="5440680" y="3246120"/>
            <a:ext cx="438912" cy="438912"/>
          </a:xfrm>
          <a:prstGeom prst="ellipse">
            <a:avLst/>
          </a:prstGeom>
          <a:solidFill>
            <a:schemeClr val="accent1"/>
          </a:solidFill>
          <a:ln/>
        </p:spPr>
      </p:sp>
      <p:sp>
        <p:nvSpPr>
          <p:cNvPr id="16" name="Step 2 number"/>
          <p:cNvSpPr txBox="1"/>
          <p:nvPr/>
        </p:nvSpPr>
        <p:spPr>
          <a:xfrm>
            <a:off x="5440680" y="324612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Step 2 title"/>
          <p:cNvSpPr txBox="1"/>
          <p:nvPr/>
        </p:nvSpPr>
        <p:spPr>
          <a:xfrm>
            <a:off x="6035040" y="3246120"/>
            <a:ext cx="2468880" cy="411480"/>
          </a:xfrm>
          <a:prstGeom prst="rect">
            <a:avLst/>
          </a:prstGeom>
          <a:noFill/>
          <a:ln/>
        </p:spPr>
        <p:txBody>
          <a:bodyPr wrap="square" lIns="0" tIns="0" rIns="0" bIns="0" rtlCol="0" anchor="t"/>
          <a:lstStyle/>
          <a:p>
            <a:pPr indent="0" marL="0">
              <a:buNone/>
            </a:pPr>
            <a:r>
              <a:rPr lang="en-US" sz="1900" b="1" dirty="0">
                <a:solidFill>
                  <a:schemeClr val="tx1"/>
                </a:solidFill>
              </a:rPr>
              <a:t>Hear yourself</a:t>
            </a:r>
            <a:endParaRPr lang="en-US" sz="1900" dirty="0"/>
          </a:p>
        </p:txBody>
      </p:sp>
      <p:sp>
        <p:nvSpPr>
          <p:cNvPr id="18" name="Step 2 text"/>
          <p:cNvSpPr txBox="1"/>
          <p:nvPr/>
        </p:nvSpPr>
        <p:spPr>
          <a:xfrm>
            <a:off x="6035040" y="3675888"/>
            <a:ext cx="2514600" cy="960120"/>
          </a:xfrm>
          <a:prstGeom prst="rect">
            <a:avLst/>
          </a:prstGeom>
          <a:noFill/>
          <a:ln/>
        </p:spPr>
        <p:txBody>
          <a:bodyPr wrap="square" lIns="0" tIns="0" rIns="0" bIns="0" rtlCol="0" anchor="t"/>
          <a:lstStyle/>
          <a:p>
            <a:pPr indent="0" marL="0">
              <a:buNone/>
            </a:pPr>
            <a:r>
              <a:rPr lang="en-US" sz="1300" dirty="0">
                <a:solidFill>
                  <a:schemeClr val="accent6"/>
                </a:solidFill>
              </a:rPr>
              <a:t>A soft chime, then a line you recorded: “Hey, it’s me. Your hand is up there.”</a:t>
            </a:r>
            <a:endParaRPr lang="en-US" sz="1300" dirty="0"/>
          </a:p>
        </p:txBody>
      </p:sp>
      <p:pic>
        <p:nvPicPr>
          <p:cNvPr id="19" name="Step 2 screenshot" descr="Screenshot: Hear yourself">    </p:cNvPr>
          <p:cNvPicPr>
            <a:picLocks noChangeAspect="1"/>
          </p:cNvPicPr>
          <p:nvPr/>
        </p:nvPicPr>
        <p:blipFill>
          <a:blip r:embed="rId4"/>
          <a:stretch>
            <a:fillRect/>
          </a:stretch>
        </p:blipFill>
        <p:spPr>
          <a:xfrm>
            <a:off x="10488168" y="3227832"/>
            <a:ext cx="1170432" cy="1271016"/>
          </a:xfrm>
          <a:prstGeom prst="rect">
            <a:avLst/>
          </a:prstGeom>
        </p:spPr>
      </p:pic>
      <p:sp>
        <p:nvSpPr>
          <p:cNvPr id="20" name="Step 3 badge"/>
          <p:cNvSpPr/>
          <p:nvPr/>
        </p:nvSpPr>
        <p:spPr>
          <a:xfrm>
            <a:off x="5440680" y="4800600"/>
            <a:ext cx="438912" cy="438912"/>
          </a:xfrm>
          <a:prstGeom prst="ellipse">
            <a:avLst/>
          </a:prstGeom>
          <a:solidFill>
            <a:schemeClr val="accent1"/>
          </a:solidFill>
          <a:ln/>
        </p:spPr>
      </p:sp>
      <p:sp>
        <p:nvSpPr>
          <p:cNvPr id="21" name="Step 3 number"/>
          <p:cNvSpPr txBox="1"/>
          <p:nvPr/>
        </p:nvSpPr>
        <p:spPr>
          <a:xfrm>
            <a:off x="5440680" y="4800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Step 3 title"/>
          <p:cNvSpPr txBox="1"/>
          <p:nvPr/>
        </p:nvSpPr>
        <p:spPr>
          <a:xfrm>
            <a:off x="6035040" y="4800600"/>
            <a:ext cx="2468880" cy="411480"/>
          </a:xfrm>
          <a:prstGeom prst="rect">
            <a:avLst/>
          </a:prstGeom>
          <a:noFill/>
          <a:ln/>
        </p:spPr>
        <p:txBody>
          <a:bodyPr wrap="square" lIns="0" tIns="0" rIns="0" bIns="0" rtlCol="0" anchor="t"/>
          <a:lstStyle/>
          <a:p>
            <a:pPr indent="0" marL="0">
              <a:buNone/>
            </a:pPr>
            <a:r>
              <a:rPr lang="en-US" sz="1900" b="1" dirty="0">
                <a:solidFill>
                  <a:schemeClr val="tx1"/>
                </a:solidFill>
              </a:rPr>
              <a:t>Stay in control</a:t>
            </a:r>
            <a:endParaRPr lang="en-US" sz="1900" dirty="0"/>
          </a:p>
        </p:txBody>
      </p:sp>
      <p:sp>
        <p:nvSpPr>
          <p:cNvPr id="23" name="Step 3 text"/>
          <p:cNvSpPr txBox="1"/>
          <p:nvPr/>
        </p:nvSpPr>
        <p:spPr>
          <a:xfrm>
            <a:off x="6035040" y="5230368"/>
            <a:ext cx="2514600" cy="960120"/>
          </a:xfrm>
          <a:prstGeom prst="rect">
            <a:avLst/>
          </a:prstGeom>
          <a:noFill/>
          <a:ln/>
        </p:spPr>
        <p:txBody>
          <a:bodyPr wrap="square" lIns="0" tIns="0" rIns="0" bIns="0" rtlCol="0" anchor="t"/>
          <a:lstStyle/>
          <a:p>
            <a:pPr indent="0" marL="0">
              <a:buNone/>
            </a:pPr>
            <a:r>
              <a:rPr lang="en-US" sz="1300" dirty="0">
                <a:solidFill>
                  <a:schemeClr val="accent6"/>
                </a:solidFill>
              </a:rPr>
              <a:t>Your voice, a chime, a visual cue or off. Video never leaves the laptop; voice clips are never uploaded.</a:t>
            </a:r>
            <a:endParaRPr lang="en-US" sz="1300" dirty="0"/>
          </a:p>
        </p:txBody>
      </p:sp>
      <p:pic>
        <p:nvPicPr>
          <p:cNvPr id="24" name="Step 3 screenshot" descr="Screenshot: Stay in control">    </p:cNvPr>
          <p:cNvPicPr>
            <a:picLocks noChangeAspect="1"/>
          </p:cNvPicPr>
          <p:nvPr/>
        </p:nvPicPr>
        <p:blipFill>
          <a:blip r:embed="rId5"/>
          <a:stretch>
            <a:fillRect/>
          </a:stretch>
        </p:blipFill>
        <p:spPr>
          <a:xfrm>
            <a:off x="8503920" y="4928616"/>
            <a:ext cx="3154680" cy="978408"/>
          </a:xfrm>
          <a:prstGeom prst="rect">
            <a:avLst/>
          </a:prstGeom>
        </p:spPr>
      </p:pic>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Left panel"/>
          <p:cNvSpPr/>
          <p:nvPr/>
        </p:nvSpPr>
        <p:spPr>
          <a:xfrm>
            <a:off x="0" y="0"/>
            <a:ext cx="4023360" cy="6858000"/>
          </a:xfrm>
          <a:prstGeom prst="rect">
            <a:avLst/>
          </a:prstGeom>
          <a:solidFill>
            <a:schemeClr val="accent1"/>
          </a:solidFill>
          <a:ln/>
        </p:spPr>
      </p:sp>
      <p:sp>
        <p:nvSpPr>
          <p:cNvPr id="3" name="Title"/>
          <p:cNvSpPr txBox="1"/>
          <p:nvPr/>
        </p:nvSpPr>
        <p:spPr>
          <a:xfrm>
            <a:off x="502920" y="548640"/>
            <a:ext cx="3200400" cy="1371600"/>
          </a:xfrm>
          <a:prstGeom prst="rect">
            <a:avLst/>
          </a:prstGeom>
          <a:noFill/>
          <a:ln/>
        </p:spPr>
        <p:txBody>
          <a:bodyPr wrap="square" lIns="0" tIns="0" rIns="0" bIns="0" rtlCol="0" anchor="t"/>
          <a:lstStyle/>
          <a:p>
            <a:pPr indent="0" marL="0">
              <a:buNone/>
            </a:pPr>
            <a:r>
              <a:rPr lang="en-US" sz="3600" b="1" dirty="0">
                <a:solidFill>
                  <a:schemeClr val="bg1"/>
                </a:solidFill>
                <a:latin typeface="+mj-lt" pitchFamily="34" charset="0"/>
                <a:ea typeface="+mj-lt" pitchFamily="34" charset="-122"/>
                <a:cs typeface="+mj-lt" pitchFamily="34" charset="-120"/>
              </a:rPr>
              <a:t>Competitive Positioning</a:t>
            </a:r>
            <a:endParaRPr lang="en-US" sz="3600" dirty="0"/>
          </a:p>
        </p:txBody>
      </p:sp>
      <p:sp>
        <p:nvSpPr>
          <p:cNvPr id="4" name="Subtitle"/>
          <p:cNvSpPr txBox="1"/>
          <p:nvPr/>
        </p:nvSpPr>
        <p:spPr>
          <a:xfrm>
            <a:off x="502920" y="1965960"/>
            <a:ext cx="3200400" cy="365760"/>
          </a:xfrm>
          <a:prstGeom prst="rect">
            <a:avLst/>
          </a:prstGeom>
          <a:noFill/>
          <a:ln/>
        </p:spPr>
        <p:txBody>
          <a:bodyPr wrap="square" lIns="0" tIns="0" rIns="0" bIns="0" rtlCol="0" anchor="t"/>
          <a:lstStyle/>
          <a:p>
            <a:pPr indent="0" marL="0">
              <a:buNone/>
            </a:pPr>
            <a:r>
              <a:rPr lang="en-US" sz="1600" dirty="0">
                <a:solidFill>
                  <a:schemeClr val="accent4"/>
                </a:solidFill>
              </a:rPr>
              <a:t>Where support meets the moment</a:t>
            </a:r>
            <a:endParaRPr lang="en-US" sz="1600" dirty="0"/>
          </a:p>
        </p:txBody>
      </p:sp>
      <p:sp>
        <p:nvSpPr>
          <p:cNvPr id="5" name="Positioning statement"/>
          <p:cNvSpPr txBox="1"/>
          <p:nvPr/>
        </p:nvSpPr>
        <p:spPr>
          <a:xfrm>
            <a:off x="502920" y="2606040"/>
            <a:ext cx="3154680" cy="1828800"/>
          </a:xfrm>
          <a:prstGeom prst="rect">
            <a:avLst/>
          </a:prstGeom>
          <a:noFill/>
          <a:ln/>
        </p:spPr>
        <p:txBody>
          <a:bodyPr wrap="square" lIns="0" tIns="0" rIns="0" bIns="0" rtlCol="0" anchor="t"/>
          <a:lstStyle/>
          <a:p>
            <a:pPr indent="0" marL="0">
              <a:buNone/>
            </a:pPr>
            <a:r>
              <a:rPr lang="en-US" sz="1900" dirty="0">
                <a:solidFill>
                  <a:schemeClr val="bg1"/>
                </a:solidFill>
              </a:rPr>
              <a:t>TrichFree is the only option that is both </a:t>
            </a:r>
            <a:pPr indent="0" marL="0">
              <a:buNone/>
            </a:pPr>
            <a:r>
              <a:rPr lang="en-US" sz="1900" b="1" dirty="0">
                <a:solidFill>
                  <a:schemeClr val="bg1"/>
                </a:solidFill>
              </a:rPr>
              <a:t>in the moment</a:t>
            </a:r>
            <a:pPr indent="0" marL="0">
              <a:buNone/>
            </a:pPr>
            <a:r>
              <a:rPr lang="en-US" sz="1900" dirty="0">
                <a:solidFill>
                  <a:schemeClr val="bg1"/>
                </a:solidFill>
              </a:rPr>
              <a:t> and </a:t>
            </a:r>
            <a:pPr indent="0" marL="0">
              <a:buNone/>
            </a:pPr>
            <a:r>
              <a:rPr lang="en-US" sz="1900" b="1" dirty="0">
                <a:solidFill>
                  <a:schemeClr val="bg1"/>
                </a:solidFill>
              </a:rPr>
              <a:t>personal</a:t>
            </a:r>
            <a:pPr indent="0" marL="0">
              <a:buNone/>
            </a:pPr>
            <a:r>
              <a:rPr lang="en-US" sz="1900" dirty="0">
                <a:solidFill>
                  <a:schemeClr val="bg1"/>
                </a:solidFill>
              </a:rPr>
              <a:t>, on the webcam students already own.</a:t>
            </a:r>
            <a:endParaRPr lang="en-US" sz="1900" dirty="0"/>
          </a:p>
        </p:txBody>
      </p:sp>
      <p:sp>
        <p:nvSpPr>
          <p:cNvPr id="6" name="Legend label"/>
          <p:cNvSpPr txBox="1"/>
          <p:nvPr/>
        </p:nvSpPr>
        <p:spPr>
          <a:xfrm>
            <a:off x="502920" y="4892040"/>
            <a:ext cx="3108960" cy="274320"/>
          </a:xfrm>
          <a:prstGeom prst="rect">
            <a:avLst/>
          </a:prstGeom>
          <a:noFill/>
          <a:ln/>
        </p:spPr>
        <p:txBody>
          <a:bodyPr wrap="square" lIns="0" tIns="0" rIns="0" bIns="0" rtlCol="0" anchor="t"/>
          <a:lstStyle/>
          <a:p>
            <a:pPr indent="0" marL="0">
              <a:buNone/>
            </a:pPr>
            <a:r>
              <a:rPr lang="en-US" sz="1200" dirty="0">
                <a:solidFill>
                  <a:schemeClr val="accent4"/>
                </a:solidFill>
              </a:rPr>
              <a:t>Bubble size = cost to the user</a:t>
            </a:r>
            <a:endParaRPr lang="en-US" sz="1200" dirty="0"/>
          </a:p>
        </p:txBody>
      </p:sp>
      <p:sp>
        <p:nvSpPr>
          <p:cNvPr id="7" name="Legend 0"/>
          <p:cNvSpPr/>
          <p:nvPr/>
        </p:nvSpPr>
        <p:spPr>
          <a:xfrm>
            <a:off x="777240" y="5600700"/>
            <a:ext cx="228600" cy="228600"/>
          </a:xfrm>
          <a:prstGeom prst="ellipse">
            <a:avLst/>
          </a:prstGeom>
          <a:solidFill>
            <a:schemeClr val="accent4"/>
          </a:solidFill>
          <a:ln/>
        </p:spPr>
      </p:sp>
      <p:sp>
        <p:nvSpPr>
          <p:cNvPr id="8" name="Legend 1"/>
          <p:cNvSpPr/>
          <p:nvPr/>
        </p:nvSpPr>
        <p:spPr>
          <a:xfrm>
            <a:off x="1783080" y="5522976"/>
            <a:ext cx="384048" cy="384048"/>
          </a:xfrm>
          <a:prstGeom prst="ellipse">
            <a:avLst/>
          </a:prstGeom>
          <a:solidFill>
            <a:schemeClr val="accent4"/>
          </a:solidFill>
          <a:ln/>
        </p:spPr>
      </p:sp>
      <p:sp>
        <p:nvSpPr>
          <p:cNvPr id="9" name="Legend 2"/>
          <p:cNvSpPr/>
          <p:nvPr/>
        </p:nvSpPr>
        <p:spPr>
          <a:xfrm>
            <a:off x="2880360" y="5431536"/>
            <a:ext cx="566928" cy="566928"/>
          </a:xfrm>
          <a:prstGeom prst="ellipse">
            <a:avLst/>
          </a:prstGeom>
          <a:solidFill>
            <a:schemeClr val="accent4"/>
          </a:solidFill>
          <a:ln/>
        </p:spPr>
      </p:sp>
      <p:sp>
        <p:nvSpPr>
          <p:cNvPr id="10" name="Legend low"/>
          <p:cNvSpPr txBox="1"/>
          <p:nvPr/>
        </p:nvSpPr>
        <p:spPr>
          <a:xfrm>
            <a:off x="548640" y="6080760"/>
            <a:ext cx="731520" cy="274320"/>
          </a:xfrm>
          <a:prstGeom prst="rect">
            <a:avLst/>
          </a:prstGeom>
          <a:noFill/>
          <a:ln/>
        </p:spPr>
        <p:txBody>
          <a:bodyPr wrap="square" lIns="0" tIns="0" rIns="0" bIns="0" rtlCol="0" anchor="t"/>
          <a:lstStyle/>
          <a:p>
            <a:pPr indent="0" marL="0">
              <a:buNone/>
            </a:pPr>
            <a:r>
              <a:rPr lang="en-US" sz="1100" dirty="0">
                <a:solidFill>
                  <a:schemeClr val="accent4"/>
                </a:solidFill>
              </a:rPr>
              <a:t>Low</a:t>
            </a:r>
            <a:endParaRPr lang="en-US" sz="1100" dirty="0"/>
          </a:p>
        </p:txBody>
      </p:sp>
      <p:sp>
        <p:nvSpPr>
          <p:cNvPr id="11" name="Legend high"/>
          <p:cNvSpPr txBox="1"/>
          <p:nvPr/>
        </p:nvSpPr>
        <p:spPr>
          <a:xfrm>
            <a:off x="2743200" y="6080760"/>
            <a:ext cx="822960" cy="274320"/>
          </a:xfrm>
          <a:prstGeom prst="rect">
            <a:avLst/>
          </a:prstGeom>
          <a:noFill/>
          <a:ln/>
        </p:spPr>
        <p:txBody>
          <a:bodyPr wrap="square" lIns="0" tIns="0" rIns="0" bIns="0" rtlCol="0" anchor="t"/>
          <a:lstStyle/>
          <a:p>
            <a:pPr indent="0" marL="0">
              <a:buNone/>
            </a:pPr>
            <a:r>
              <a:rPr lang="en-US" sz="1100" dirty="0">
                <a:solidFill>
                  <a:schemeClr val="accent4"/>
                </a:solidFill>
              </a:rPr>
              <a:t>High</a:t>
            </a:r>
            <a:endParaRPr lang="en-US" sz="1100" dirty="0"/>
          </a:p>
        </p:txBody>
      </p:sp>
      <p:sp>
        <p:nvSpPr>
          <p:cNvPr id="12" name="X axis"/>
          <p:cNvSpPr/>
          <p:nvPr/>
        </p:nvSpPr>
        <p:spPr>
          <a:xfrm>
            <a:off x="4526280" y="3337560"/>
            <a:ext cx="7178040" cy="0"/>
          </a:xfrm>
          <a:prstGeom prst="line">
            <a:avLst/>
          </a:prstGeom>
          <a:noFill/>
          <a:ln w="25400">
            <a:solidFill>
              <a:schemeClr val="tx1"/>
            </a:solidFill>
            <a:prstDash val="solid"/>
            <a:headEnd type="triangle"/>
            <a:tailEnd type="triangle"/>
          </a:ln>
        </p:spPr>
      </p:sp>
      <p:sp>
        <p:nvSpPr>
          <p:cNvPr id="13" name="Y axis"/>
          <p:cNvSpPr/>
          <p:nvPr/>
        </p:nvSpPr>
        <p:spPr>
          <a:xfrm>
            <a:off x="8092440" y="685800"/>
            <a:ext cx="0" cy="5303520"/>
          </a:xfrm>
          <a:prstGeom prst="line">
            <a:avLst/>
          </a:prstGeom>
          <a:noFill/>
          <a:ln w="25400">
            <a:solidFill>
              <a:schemeClr val="tx1"/>
            </a:solidFill>
            <a:prstDash val="solid"/>
            <a:headEnd type="triangle"/>
            <a:tailEnd type="triangle"/>
          </a:ln>
        </p:spPr>
      </p:sp>
      <p:sp>
        <p:nvSpPr>
          <p:cNvPr id="14" name="X right"/>
          <p:cNvSpPr txBox="1"/>
          <p:nvPr/>
        </p:nvSpPr>
        <p:spPr>
          <a:xfrm>
            <a:off x="10058400" y="3429000"/>
            <a:ext cx="1645920" cy="320040"/>
          </a:xfrm>
          <a:prstGeom prst="rect">
            <a:avLst/>
          </a:prstGeom>
          <a:noFill/>
          <a:ln/>
        </p:spPr>
        <p:txBody>
          <a:bodyPr wrap="square" lIns="0" tIns="0" rIns="0" bIns="0" rtlCol="0" anchor="t"/>
          <a:lstStyle/>
          <a:p>
            <a:pPr algn="r" indent="0" marL="0">
              <a:buNone/>
            </a:pPr>
            <a:r>
              <a:rPr lang="en-US" sz="1500" b="1" dirty="0">
                <a:solidFill>
                  <a:schemeClr val="tx1"/>
                </a:solidFill>
              </a:rPr>
              <a:t>In the moment</a:t>
            </a:r>
            <a:endParaRPr lang="en-US" sz="1500" dirty="0"/>
          </a:p>
        </p:txBody>
      </p:sp>
      <p:sp>
        <p:nvSpPr>
          <p:cNvPr id="15" name="X left"/>
          <p:cNvSpPr txBox="1"/>
          <p:nvPr/>
        </p:nvSpPr>
        <p:spPr>
          <a:xfrm>
            <a:off x="4526280" y="3429000"/>
            <a:ext cx="1828800" cy="320040"/>
          </a:xfrm>
          <a:prstGeom prst="rect">
            <a:avLst/>
          </a:prstGeom>
          <a:noFill/>
          <a:ln/>
        </p:spPr>
        <p:txBody>
          <a:bodyPr wrap="square" lIns="0" tIns="0" rIns="0" bIns="0" rtlCol="0" anchor="t"/>
          <a:lstStyle/>
          <a:p>
            <a:pPr indent="0" marL="0">
              <a:buNone/>
            </a:pPr>
            <a:r>
              <a:rPr lang="en-US" sz="1500" b="1" dirty="0">
                <a:solidFill>
                  <a:schemeClr val="tx1"/>
                </a:solidFill>
              </a:rPr>
              <a:t>After the moment</a:t>
            </a:r>
            <a:endParaRPr lang="en-US" sz="1500" dirty="0"/>
          </a:p>
        </p:txBody>
      </p:sp>
      <p:sp>
        <p:nvSpPr>
          <p:cNvPr id="16" name="Y top"/>
          <p:cNvSpPr txBox="1"/>
          <p:nvPr/>
        </p:nvSpPr>
        <p:spPr>
          <a:xfrm>
            <a:off x="8229600" y="566928"/>
            <a:ext cx="1463040" cy="320040"/>
          </a:xfrm>
          <a:prstGeom prst="rect">
            <a:avLst/>
          </a:prstGeom>
          <a:noFill/>
          <a:ln/>
        </p:spPr>
        <p:txBody>
          <a:bodyPr wrap="square" lIns="0" tIns="0" rIns="0" bIns="0" rtlCol="0" anchor="t"/>
          <a:lstStyle/>
          <a:p>
            <a:pPr indent="0" marL="0">
              <a:buNone/>
            </a:pPr>
            <a:r>
              <a:rPr lang="en-US" sz="1500" b="1" dirty="0">
                <a:solidFill>
                  <a:schemeClr val="tx1"/>
                </a:solidFill>
              </a:rPr>
              <a:t>Personal</a:t>
            </a:r>
            <a:endParaRPr lang="en-US" sz="1500" dirty="0"/>
          </a:p>
        </p:txBody>
      </p:sp>
      <p:sp>
        <p:nvSpPr>
          <p:cNvPr id="17" name="Y bottom"/>
          <p:cNvSpPr txBox="1"/>
          <p:nvPr/>
        </p:nvSpPr>
        <p:spPr>
          <a:xfrm>
            <a:off x="8229600" y="5715000"/>
            <a:ext cx="1463040" cy="320040"/>
          </a:xfrm>
          <a:prstGeom prst="rect">
            <a:avLst/>
          </a:prstGeom>
          <a:noFill/>
          <a:ln/>
        </p:spPr>
        <p:txBody>
          <a:bodyPr wrap="square" lIns="0" tIns="0" rIns="0" bIns="0" rtlCol="0" anchor="t"/>
          <a:lstStyle/>
          <a:p>
            <a:pPr indent="0" marL="0">
              <a:buNone/>
            </a:pPr>
            <a:r>
              <a:rPr lang="en-US" sz="1500" b="1" dirty="0">
                <a:solidFill>
                  <a:schemeClr val="tx1"/>
                </a:solidFill>
              </a:rPr>
              <a:t>Generic</a:t>
            </a:r>
            <a:endParaRPr lang="en-US" sz="1500" dirty="0"/>
          </a:p>
        </p:txBody>
      </p:sp>
      <p:sp>
        <p:nvSpPr>
          <p:cNvPr id="18" name="Therapy (HRT) bubble"/>
          <p:cNvSpPr/>
          <p:nvPr/>
        </p:nvSpPr>
        <p:spPr>
          <a:xfrm>
            <a:off x="5394960" y="1005840"/>
            <a:ext cx="1188720" cy="1188720"/>
          </a:xfrm>
          <a:prstGeom prst="ellipse">
            <a:avLst/>
          </a:prstGeom>
          <a:solidFill>
            <a:schemeClr val="bg1"/>
          </a:solidFill>
          <a:ln w="19050">
            <a:solidFill>
              <a:schemeClr val="accent5"/>
            </a:solidFill>
            <a:prstDash val="solid"/>
          </a:ln>
        </p:spPr>
      </p:sp>
      <p:pic>
        <p:nvPicPr>
          <p:cNvPr id="19" name="Therapy (HRT) icon" descr="Therapy (HRT)">    </p:cNvPr>
          <p:cNvPicPr>
            <a:picLocks noChangeAspect="1"/>
          </p:cNvPicPr>
          <p:nvPr/>
        </p:nvPicPr>
        <p:blipFill>
          <a:blip r:embed="rId1"/>
          <a:stretch>
            <a:fillRect/>
          </a:stretch>
        </p:blipFill>
        <p:spPr>
          <a:xfrm>
            <a:off x="5662422" y="1273302"/>
            <a:ext cx="653796" cy="653796"/>
          </a:xfrm>
          <a:prstGeom prst="rect">
            <a:avLst/>
          </a:prstGeom>
        </p:spPr>
      </p:pic>
      <p:sp>
        <p:nvSpPr>
          <p:cNvPr id="20" name="Therapy (HRT) label"/>
          <p:cNvSpPr txBox="1"/>
          <p:nvPr/>
        </p:nvSpPr>
        <p:spPr>
          <a:xfrm>
            <a:off x="4800600" y="2249424"/>
            <a:ext cx="2377440" cy="548640"/>
          </a:xfrm>
          <a:prstGeom prst="rect">
            <a:avLst/>
          </a:prstGeom>
          <a:noFill/>
          <a:ln/>
        </p:spPr>
        <p:txBody>
          <a:bodyPr wrap="square" lIns="0" tIns="0" rIns="0" bIns="0" rtlCol="0" anchor="t"/>
          <a:lstStyle/>
          <a:p>
            <a:pPr algn="ctr" indent="0" marL="0">
              <a:buNone/>
            </a:pPr>
            <a:r>
              <a:rPr lang="en-US" sz="1200" b="1" dirty="0">
                <a:solidFill>
                  <a:schemeClr val="tx1"/>
                </a:solidFill>
              </a:rPr>
              <a:t>Therapy (HRT)</a:t>
            </a:r>
            <a:endParaRPr lang="en-US" sz="1200" dirty="0"/>
          </a:p>
          <a:p>
            <a:pPr algn="ctr" indent="0" marL="0">
              <a:buNone/>
            </a:pPr>
            <a:r>
              <a:rPr lang="en-US" sz="1200" dirty="0">
                <a:solidFill>
                  <a:srgbClr val="5F5A75"/>
                </a:solidFill>
              </a:rPr>
              <a:t>personal, but between sessions</a:t>
            </a:r>
            <a:endParaRPr lang="en-US" sz="1200" dirty="0"/>
          </a:p>
        </p:txBody>
      </p:sp>
      <p:sp>
        <p:nvSpPr>
          <p:cNvPr id="21" name="Habit-tracking apps bubble"/>
          <p:cNvSpPr/>
          <p:nvPr/>
        </p:nvSpPr>
        <p:spPr>
          <a:xfrm>
            <a:off x="5303520" y="3931920"/>
            <a:ext cx="640080" cy="640080"/>
          </a:xfrm>
          <a:prstGeom prst="ellipse">
            <a:avLst/>
          </a:prstGeom>
          <a:solidFill>
            <a:schemeClr val="bg1"/>
          </a:solidFill>
          <a:ln w="19050">
            <a:solidFill>
              <a:schemeClr val="accent5"/>
            </a:solidFill>
            <a:prstDash val="solid"/>
          </a:ln>
        </p:spPr>
      </p:sp>
      <p:pic>
        <p:nvPicPr>
          <p:cNvPr id="22" name="Habit-tracking apps icon" descr="Habit-tracking apps">    </p:cNvPr>
          <p:cNvPicPr>
            <a:picLocks noChangeAspect="1"/>
          </p:cNvPicPr>
          <p:nvPr/>
        </p:nvPicPr>
        <p:blipFill>
          <a:blip r:embed="rId2"/>
          <a:stretch>
            <a:fillRect/>
          </a:stretch>
        </p:blipFill>
        <p:spPr>
          <a:xfrm>
            <a:off x="5447538" y="4075938"/>
            <a:ext cx="352044" cy="352044"/>
          </a:xfrm>
          <a:prstGeom prst="rect">
            <a:avLst/>
          </a:prstGeom>
        </p:spPr>
      </p:pic>
      <p:sp>
        <p:nvSpPr>
          <p:cNvPr id="23" name="Habit-tracking apps label"/>
          <p:cNvSpPr txBox="1"/>
          <p:nvPr/>
        </p:nvSpPr>
        <p:spPr>
          <a:xfrm>
            <a:off x="4434840" y="4626864"/>
            <a:ext cx="2377440" cy="548640"/>
          </a:xfrm>
          <a:prstGeom prst="rect">
            <a:avLst/>
          </a:prstGeom>
          <a:noFill/>
          <a:ln/>
        </p:spPr>
        <p:txBody>
          <a:bodyPr wrap="square" lIns="0" tIns="0" rIns="0" bIns="0" rtlCol="0" anchor="t"/>
          <a:lstStyle/>
          <a:p>
            <a:pPr algn="ctr" indent="0" marL="0">
              <a:buNone/>
            </a:pPr>
            <a:r>
              <a:rPr lang="en-US" sz="1200" b="1" dirty="0">
                <a:solidFill>
                  <a:schemeClr val="tx1"/>
                </a:solidFill>
              </a:rPr>
              <a:t>Habit-tracking apps</a:t>
            </a:r>
            <a:endParaRPr lang="en-US" sz="1200" dirty="0"/>
          </a:p>
          <a:p>
            <a:pPr algn="ctr" indent="0" marL="0">
              <a:buNone/>
            </a:pPr>
            <a:r>
              <a:rPr lang="en-US" sz="1200" dirty="0">
                <a:solidFill>
                  <a:srgbClr val="5F5A75"/>
                </a:solidFill>
              </a:rPr>
              <a:t>log it afterwards</a:t>
            </a:r>
            <a:endParaRPr lang="en-US" sz="1200" dirty="0"/>
          </a:p>
        </p:txBody>
      </p:sp>
      <p:sp>
        <p:nvSpPr>
          <p:cNvPr id="24" name="Timers &amp; generic reminders bubble"/>
          <p:cNvSpPr/>
          <p:nvPr/>
        </p:nvSpPr>
        <p:spPr>
          <a:xfrm>
            <a:off x="6835140" y="4732020"/>
            <a:ext cx="502920" cy="502920"/>
          </a:xfrm>
          <a:prstGeom prst="ellipse">
            <a:avLst/>
          </a:prstGeom>
          <a:solidFill>
            <a:schemeClr val="bg1"/>
          </a:solidFill>
          <a:ln w="19050">
            <a:solidFill>
              <a:schemeClr val="accent5"/>
            </a:solidFill>
            <a:prstDash val="solid"/>
          </a:ln>
        </p:spPr>
      </p:sp>
      <p:pic>
        <p:nvPicPr>
          <p:cNvPr id="25" name="Timers &amp; generic reminders icon" descr="Timers &amp; generic reminders">    </p:cNvPr>
          <p:cNvPicPr>
            <a:picLocks noChangeAspect="1"/>
          </p:cNvPicPr>
          <p:nvPr/>
        </p:nvPicPr>
        <p:blipFill>
          <a:blip r:embed="rId3"/>
          <a:stretch>
            <a:fillRect/>
          </a:stretch>
        </p:blipFill>
        <p:spPr>
          <a:xfrm>
            <a:off x="6948297" y="4845177"/>
            <a:ext cx="276606" cy="276606"/>
          </a:xfrm>
          <a:prstGeom prst="rect">
            <a:avLst/>
          </a:prstGeom>
        </p:spPr>
      </p:pic>
      <p:sp>
        <p:nvSpPr>
          <p:cNvPr id="26" name="Timers &amp; generic reminders label"/>
          <p:cNvSpPr txBox="1"/>
          <p:nvPr/>
        </p:nvSpPr>
        <p:spPr>
          <a:xfrm>
            <a:off x="5897880" y="5289804"/>
            <a:ext cx="2377440" cy="548640"/>
          </a:xfrm>
          <a:prstGeom prst="rect">
            <a:avLst/>
          </a:prstGeom>
          <a:noFill/>
          <a:ln/>
        </p:spPr>
        <p:txBody>
          <a:bodyPr wrap="square" lIns="0" tIns="0" rIns="0" bIns="0" rtlCol="0" anchor="t"/>
          <a:lstStyle/>
          <a:p>
            <a:pPr algn="ctr" indent="0" marL="0">
              <a:buNone/>
            </a:pPr>
            <a:r>
              <a:rPr lang="en-US" sz="1200" b="1" dirty="0">
                <a:solidFill>
                  <a:schemeClr val="tx1"/>
                </a:solidFill>
              </a:rPr>
              <a:t>Timers &amp; generic reminders</a:t>
            </a:r>
            <a:endParaRPr lang="en-US" sz="1200" dirty="0"/>
          </a:p>
          <a:p>
            <a:pPr algn="ctr" indent="0" marL="0">
              <a:buNone/>
            </a:pPr>
            <a:r>
              <a:rPr lang="en-US" sz="1200" dirty="0">
                <a:solidFill>
                  <a:srgbClr val="5F5A75"/>
                </a:solidFill>
              </a:rPr>
              <a:t>not tied to the moment</a:t>
            </a:r>
            <a:endParaRPr lang="en-US" sz="1200" dirty="0"/>
          </a:p>
        </p:txBody>
      </p:sp>
      <p:sp>
        <p:nvSpPr>
          <p:cNvPr id="27" name="Wearables (e.g. Keen2) bubble"/>
          <p:cNvSpPr/>
          <p:nvPr/>
        </p:nvSpPr>
        <p:spPr>
          <a:xfrm>
            <a:off x="9532620" y="4046220"/>
            <a:ext cx="1051560" cy="1051560"/>
          </a:xfrm>
          <a:prstGeom prst="ellipse">
            <a:avLst/>
          </a:prstGeom>
          <a:solidFill>
            <a:schemeClr val="bg1"/>
          </a:solidFill>
          <a:ln w="19050">
            <a:solidFill>
              <a:schemeClr val="accent5"/>
            </a:solidFill>
            <a:prstDash val="solid"/>
          </a:ln>
        </p:spPr>
      </p:sp>
      <p:pic>
        <p:nvPicPr>
          <p:cNvPr id="28" name="Wearables (e.g. Keen2) icon" descr="Wearables (e.g. Keen2)">    </p:cNvPr>
          <p:cNvPicPr>
            <a:picLocks noChangeAspect="1"/>
          </p:cNvPicPr>
          <p:nvPr/>
        </p:nvPicPr>
        <p:blipFill>
          <a:blip r:embed="rId4"/>
          <a:stretch>
            <a:fillRect/>
          </a:stretch>
        </p:blipFill>
        <p:spPr>
          <a:xfrm>
            <a:off x="9769221" y="4282821"/>
            <a:ext cx="578358" cy="578358"/>
          </a:xfrm>
          <a:prstGeom prst="rect">
            <a:avLst/>
          </a:prstGeom>
        </p:spPr>
      </p:pic>
      <p:sp>
        <p:nvSpPr>
          <p:cNvPr id="29" name="Wearables (e.g. Keen2) label"/>
          <p:cNvSpPr txBox="1"/>
          <p:nvPr/>
        </p:nvSpPr>
        <p:spPr>
          <a:xfrm>
            <a:off x="8869680" y="5152644"/>
            <a:ext cx="2377440" cy="548640"/>
          </a:xfrm>
          <a:prstGeom prst="rect">
            <a:avLst/>
          </a:prstGeom>
          <a:noFill/>
          <a:ln/>
        </p:spPr>
        <p:txBody>
          <a:bodyPr wrap="square" lIns="0" tIns="0" rIns="0" bIns="0" rtlCol="0" anchor="t"/>
          <a:lstStyle/>
          <a:p>
            <a:pPr algn="ctr" indent="0" marL="0">
              <a:buNone/>
            </a:pPr>
            <a:r>
              <a:rPr lang="en-US" sz="1200" b="1" dirty="0">
                <a:solidFill>
                  <a:schemeClr val="tx1"/>
                </a:solidFill>
              </a:rPr>
              <a:t>Wearables (e.g. Keen2)</a:t>
            </a:r>
            <a:endParaRPr lang="en-US" sz="1200" dirty="0"/>
          </a:p>
          <a:p>
            <a:pPr algn="ctr" indent="0" marL="0">
              <a:buNone/>
            </a:pPr>
            <a:r>
              <a:rPr lang="en-US" sz="1200" dirty="0">
                <a:solidFill>
                  <a:srgbClr val="5F5A75"/>
                </a:solidFill>
              </a:rPr>
              <a:t>generic buzz · ~US$149–179</a:t>
            </a:r>
            <a:endParaRPr lang="en-US" sz="1200" dirty="0"/>
          </a:p>
        </p:txBody>
      </p:sp>
      <p:sp>
        <p:nvSpPr>
          <p:cNvPr id="30" name="TrichFree ring"/>
          <p:cNvSpPr/>
          <p:nvPr/>
        </p:nvSpPr>
        <p:spPr>
          <a:xfrm>
            <a:off x="9596628" y="1046988"/>
            <a:ext cx="1106424" cy="1106424"/>
          </a:xfrm>
          <a:prstGeom prst="ellipse">
            <a:avLst/>
          </a:prstGeom>
          <a:ln w="31750">
            <a:solidFill>
              <a:schemeClr val="accent3"/>
            </a:solidFill>
            <a:prstDash val="dash"/>
          </a:ln>
        </p:spPr>
      </p:sp>
      <p:sp>
        <p:nvSpPr>
          <p:cNvPr id="31" name="TrichFree bubble"/>
          <p:cNvSpPr/>
          <p:nvPr/>
        </p:nvSpPr>
        <p:spPr>
          <a:xfrm>
            <a:off x="9715500" y="1165860"/>
            <a:ext cx="868680" cy="868680"/>
          </a:xfrm>
          <a:prstGeom prst="ellipse">
            <a:avLst/>
          </a:prstGeom>
          <a:solidFill>
            <a:schemeClr val="accent1"/>
          </a:solidFill>
          <a:ln/>
        </p:spPr>
      </p:sp>
      <p:pic>
        <p:nvPicPr>
          <p:cNvPr id="32" name="TrichFree icon" descr="Mochi, the TrichFree companion">    </p:cNvPr>
          <p:cNvPicPr>
            <a:picLocks noChangeAspect="1"/>
          </p:cNvPicPr>
          <p:nvPr/>
        </p:nvPicPr>
        <p:blipFill>
          <a:blip r:embed="rId5"/>
          <a:stretch>
            <a:fillRect/>
          </a:stretch>
        </p:blipFill>
        <p:spPr>
          <a:xfrm>
            <a:off x="9802368" y="1216152"/>
            <a:ext cx="694944" cy="694944"/>
          </a:xfrm>
          <a:prstGeom prst="rect">
            <a:avLst/>
          </a:prstGeom>
        </p:spPr>
      </p:pic>
      <p:sp>
        <p:nvSpPr>
          <p:cNvPr id="33" name="TrichFree label"/>
          <p:cNvSpPr txBox="1"/>
          <p:nvPr/>
        </p:nvSpPr>
        <p:spPr>
          <a:xfrm>
            <a:off x="8915400" y="2217420"/>
            <a:ext cx="2468880" cy="548640"/>
          </a:xfrm>
          <a:prstGeom prst="rect">
            <a:avLst/>
          </a:prstGeom>
          <a:noFill/>
          <a:ln/>
        </p:spPr>
        <p:txBody>
          <a:bodyPr wrap="square" lIns="0" tIns="0" rIns="0" bIns="0" rtlCol="0" anchor="t"/>
          <a:lstStyle/>
          <a:p>
            <a:pPr algn="ctr" indent="0" marL="0">
              <a:buNone/>
            </a:pPr>
            <a:r>
              <a:rPr lang="en-US" sz="1300" b="1" dirty="0">
                <a:solidFill>
                  <a:schemeClr val="accent1"/>
                </a:solidFill>
              </a:rPr>
              <a:t>TrichFree</a:t>
            </a:r>
            <a:endParaRPr lang="en-US" sz="1300" dirty="0"/>
          </a:p>
          <a:p>
            <a:pPr algn="ctr" indent="0" marL="0">
              <a:buNone/>
            </a:pPr>
            <a:r>
              <a:rPr lang="en-US" sz="1300" dirty="0">
                <a:solidFill>
                  <a:srgbClr val="5F5A75"/>
                </a:solidFill>
              </a:rPr>
              <a:t>own voice, own zones, no new device</a:t>
            </a:r>
            <a:endParaRPr lang="en-US" sz="1300" dirty="0"/>
          </a:p>
        </p:txBody>
      </p:sp>
      <p:sp>
        <p:nvSpPr>
          <p:cNvPr id="34" name="Honesty caption"/>
          <p:cNvSpPr txBox="1"/>
          <p:nvPr/>
        </p:nvSpPr>
        <p:spPr>
          <a:xfrm>
            <a:off x="4526280" y="6126480"/>
            <a:ext cx="7178040" cy="274320"/>
          </a:xfrm>
          <a:prstGeom prst="rect">
            <a:avLst/>
          </a:prstGeom>
          <a:noFill/>
          <a:ln/>
        </p:spPr>
        <p:txBody>
          <a:bodyPr wrap="square" lIns="0" tIns="0" rIns="0" bIns="0" rtlCol="0" anchor="t"/>
          <a:lstStyle/>
          <a:p>
            <a:pPr indent="0" marL="0">
              <a:buNone/>
            </a:pPr>
            <a:r>
              <a:rPr lang="en-US" sz="1100" i="1" dirty="0">
                <a:solidFill>
                  <a:schemeClr val="accent6"/>
                </a:solidFill>
              </a:rPr>
              <a:t>Positions are our assessment. Therapy stays the gold standard, and TrichFree complements it. Wearables go everywhere; we only see the desk.</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Built, tested, and ready to be proven</a:t>
            </a:r>
            <a:endParaRPr lang="en-US" sz="3600" dirty="0"/>
          </a:p>
        </p:txBody>
      </p:sp>
      <p:sp>
        <p:nvSpPr>
          <p:cNvPr id="3" name="Tile 1"/>
          <p:cNvSpPr/>
          <p:nvPr/>
        </p:nvSpPr>
        <p:spPr>
          <a:xfrm>
            <a:off x="548640" y="1417320"/>
            <a:ext cx="3566160" cy="1965960"/>
          </a:xfrm>
          <a:prstGeom prst="roundRect">
            <a:avLst>
              <a:gd name="adj" fmla="val 837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4" name="Tile 1 circle"/>
          <p:cNvSpPr/>
          <p:nvPr/>
        </p:nvSpPr>
        <p:spPr>
          <a:xfrm>
            <a:off x="804672" y="1691640"/>
            <a:ext cx="914400" cy="914400"/>
          </a:xfrm>
          <a:prstGeom prst="ellipse">
            <a:avLst/>
          </a:prstGeom>
          <a:solidFill>
            <a:srgbClr val="ECE7F8"/>
          </a:solidFill>
          <a:ln/>
        </p:spPr>
      </p:sp>
      <p:pic>
        <p:nvPicPr>
          <p:cNvPr id="5" name="Tile 1 icon" descr="Tile 1">    </p:cNvPr>
          <p:cNvPicPr>
            <a:picLocks noChangeAspect="1"/>
          </p:cNvPicPr>
          <p:nvPr/>
        </p:nvPicPr>
        <p:blipFill>
          <a:blip r:embed="rId1"/>
          <a:stretch>
            <a:fillRect/>
          </a:stretch>
        </p:blipFill>
        <p:spPr>
          <a:xfrm>
            <a:off x="996696" y="1883664"/>
            <a:ext cx="530352" cy="530352"/>
          </a:xfrm>
          <a:prstGeom prst="rect">
            <a:avLst/>
          </a:prstGeom>
        </p:spPr>
      </p:pic>
      <p:sp>
        <p:nvSpPr>
          <p:cNvPr id="6" name="Tile 1 head"/>
          <p:cNvSpPr txBox="1"/>
          <p:nvPr/>
        </p:nvSpPr>
        <p:spPr>
          <a:xfrm>
            <a:off x="1874520" y="1691640"/>
            <a:ext cx="2103120" cy="914400"/>
          </a:xfrm>
          <a:prstGeom prst="rect">
            <a:avLst/>
          </a:prstGeom>
          <a:noFill/>
          <a:ln/>
        </p:spPr>
        <p:txBody>
          <a:bodyPr wrap="square" lIns="0" tIns="0" rIns="0" bIns="0" rtlCol="0" anchor="ctr"/>
          <a:lstStyle/>
          <a:p>
            <a:pPr indent="0" marL="0">
              <a:buNone/>
            </a:pPr>
            <a:r>
              <a:rPr lang="en-US" sz="1900" b="1" dirty="0">
                <a:solidFill>
                  <a:schemeClr val="tx1"/>
                </a:solidFill>
              </a:rPr>
              <a:t>Working extension + website</a:t>
            </a:r>
            <a:endParaRPr lang="en-US" sz="1900" dirty="0"/>
          </a:p>
        </p:txBody>
      </p:sp>
      <p:sp>
        <p:nvSpPr>
          <p:cNvPr id="7" name="Tile 1 body"/>
          <p:cNvSpPr txBox="1"/>
          <p:nvPr/>
        </p:nvSpPr>
        <p:spPr>
          <a:xfrm>
            <a:off x="804672" y="2679192"/>
            <a:ext cx="3108960" cy="640080"/>
          </a:xfrm>
          <a:prstGeom prst="rect">
            <a:avLst/>
          </a:prstGeom>
          <a:noFill/>
          <a:ln/>
        </p:spPr>
        <p:txBody>
          <a:bodyPr wrap="square" lIns="0" tIns="0" rIns="0" bIns="0" rtlCol="0" anchor="t"/>
          <a:lstStyle/>
          <a:p>
            <a:pPr indent="0" marL="0">
              <a:buNone/>
            </a:pPr>
            <a:r>
              <a:rPr lang="en-US" sz="1300" dirty="0">
                <a:solidFill>
                  <a:schemeClr val="accent6"/>
                </a:solidFill>
              </a:rPr>
              <a:t>Chrome/Edge extension, companion site and an in-browser demo.</a:t>
            </a:r>
            <a:endParaRPr lang="en-US" sz="1300" dirty="0"/>
          </a:p>
        </p:txBody>
      </p:sp>
      <p:sp>
        <p:nvSpPr>
          <p:cNvPr id="8" name="Tile 2"/>
          <p:cNvSpPr/>
          <p:nvPr/>
        </p:nvSpPr>
        <p:spPr>
          <a:xfrm>
            <a:off x="4297680" y="1417320"/>
            <a:ext cx="3566160" cy="1965960"/>
          </a:xfrm>
          <a:prstGeom prst="roundRect">
            <a:avLst>
              <a:gd name="adj" fmla="val 837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9" name="Tile 2 circle"/>
          <p:cNvSpPr/>
          <p:nvPr/>
        </p:nvSpPr>
        <p:spPr>
          <a:xfrm>
            <a:off x="4553712" y="1691640"/>
            <a:ext cx="914400" cy="914400"/>
          </a:xfrm>
          <a:prstGeom prst="ellipse">
            <a:avLst/>
          </a:prstGeom>
          <a:solidFill>
            <a:srgbClr val="ECE7F8"/>
          </a:solidFill>
          <a:ln/>
        </p:spPr>
      </p:sp>
      <p:pic>
        <p:nvPicPr>
          <p:cNvPr id="10" name="Tile 2 icon" descr="Tile 2">    </p:cNvPr>
          <p:cNvPicPr>
            <a:picLocks noChangeAspect="1"/>
          </p:cNvPicPr>
          <p:nvPr/>
        </p:nvPicPr>
        <p:blipFill>
          <a:blip r:embed="rId2"/>
          <a:stretch>
            <a:fillRect/>
          </a:stretch>
        </p:blipFill>
        <p:spPr>
          <a:xfrm>
            <a:off x="4745736" y="1883664"/>
            <a:ext cx="530352" cy="530352"/>
          </a:xfrm>
          <a:prstGeom prst="rect">
            <a:avLst/>
          </a:prstGeom>
        </p:spPr>
      </p:pic>
      <p:sp>
        <p:nvSpPr>
          <p:cNvPr id="11" name="Tile 2 head"/>
          <p:cNvSpPr txBox="1"/>
          <p:nvPr/>
        </p:nvSpPr>
        <p:spPr>
          <a:xfrm>
            <a:off x="5623560" y="1691640"/>
            <a:ext cx="2103120" cy="914400"/>
          </a:xfrm>
          <a:prstGeom prst="rect">
            <a:avLst/>
          </a:prstGeom>
          <a:noFill/>
          <a:ln/>
        </p:spPr>
        <p:txBody>
          <a:bodyPr wrap="square" lIns="0" tIns="0" rIns="0" bIns="0" rtlCol="0" anchor="ctr"/>
          <a:lstStyle/>
          <a:p>
            <a:pPr indent="0" marL="0">
              <a:buNone/>
            </a:pPr>
            <a:r>
              <a:rPr lang="en-US" sz="1900" b="1" dirty="0">
                <a:solidFill>
                  <a:schemeClr val="tx1"/>
                </a:solidFill>
              </a:rPr>
              <a:t>283 automated tests</a:t>
            </a:r>
            <a:endParaRPr lang="en-US" sz="1900" dirty="0"/>
          </a:p>
        </p:txBody>
      </p:sp>
      <p:sp>
        <p:nvSpPr>
          <p:cNvPr id="12" name="Tile 2 body"/>
          <p:cNvSpPr txBox="1"/>
          <p:nvPr/>
        </p:nvSpPr>
        <p:spPr>
          <a:xfrm>
            <a:off x="4553712" y="2679192"/>
            <a:ext cx="3108960" cy="640080"/>
          </a:xfrm>
          <a:prstGeom prst="rect">
            <a:avLst/>
          </a:prstGeom>
          <a:noFill/>
          <a:ln/>
        </p:spPr>
        <p:txBody>
          <a:bodyPr wrap="square" lIns="0" tIns="0" rIns="0" bIns="0" rtlCol="0" anchor="t"/>
          <a:lstStyle/>
          <a:p>
            <a:pPr indent="0" marL="0">
              <a:buNone/>
            </a:pPr>
            <a:r>
              <a:rPr lang="en-US" sz="1300" dirty="0">
                <a:solidFill>
                  <a:schemeClr val="accent6"/>
                </a:solidFill>
              </a:rPr>
              <a:t>192 unit · 57 database · 34 browser. Software reliability, not detection accuracy.</a:t>
            </a:r>
            <a:endParaRPr lang="en-US" sz="1300" dirty="0"/>
          </a:p>
        </p:txBody>
      </p:sp>
      <p:sp>
        <p:nvSpPr>
          <p:cNvPr id="13" name="Tile 3"/>
          <p:cNvSpPr/>
          <p:nvPr/>
        </p:nvSpPr>
        <p:spPr>
          <a:xfrm>
            <a:off x="8046720" y="1417320"/>
            <a:ext cx="3566160" cy="1965960"/>
          </a:xfrm>
          <a:prstGeom prst="roundRect">
            <a:avLst>
              <a:gd name="adj" fmla="val 837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14" name="Tile 3 circle"/>
          <p:cNvSpPr/>
          <p:nvPr/>
        </p:nvSpPr>
        <p:spPr>
          <a:xfrm>
            <a:off x="8302752" y="1691640"/>
            <a:ext cx="914400" cy="914400"/>
          </a:xfrm>
          <a:prstGeom prst="ellipse">
            <a:avLst/>
          </a:prstGeom>
          <a:solidFill>
            <a:srgbClr val="ECE7F8"/>
          </a:solidFill>
          <a:ln/>
        </p:spPr>
      </p:sp>
      <p:pic>
        <p:nvPicPr>
          <p:cNvPr id="15" name="Tile 3 icon" descr="Tile 3">    </p:cNvPr>
          <p:cNvPicPr>
            <a:picLocks noChangeAspect="1"/>
          </p:cNvPicPr>
          <p:nvPr/>
        </p:nvPicPr>
        <p:blipFill>
          <a:blip r:embed="rId3"/>
          <a:stretch>
            <a:fillRect/>
          </a:stretch>
        </p:blipFill>
        <p:spPr>
          <a:xfrm>
            <a:off x="8494776" y="1883664"/>
            <a:ext cx="530352" cy="530352"/>
          </a:xfrm>
          <a:prstGeom prst="rect">
            <a:avLst/>
          </a:prstGeom>
        </p:spPr>
      </p:pic>
      <p:sp>
        <p:nvSpPr>
          <p:cNvPr id="16" name="Tile 3 head"/>
          <p:cNvSpPr txBox="1"/>
          <p:nvPr/>
        </p:nvSpPr>
        <p:spPr>
          <a:xfrm>
            <a:off x="9372600" y="1691640"/>
            <a:ext cx="2103120" cy="914400"/>
          </a:xfrm>
          <a:prstGeom prst="rect">
            <a:avLst/>
          </a:prstGeom>
          <a:noFill/>
          <a:ln/>
        </p:spPr>
        <p:txBody>
          <a:bodyPr wrap="square" lIns="0" tIns="0" rIns="0" bIns="0" rtlCol="0" anchor="ctr"/>
          <a:lstStyle/>
          <a:p>
            <a:pPr indent="0" marL="0">
              <a:buNone/>
            </a:pPr>
            <a:r>
              <a:rPr lang="en-US" sz="1900" b="1" dirty="0">
                <a:solidFill>
                  <a:schemeClr val="tx1"/>
                </a:solidFill>
              </a:rPr>
              <a:t>350 / 350 simulated reaches</a:t>
            </a:r>
            <a:endParaRPr lang="en-US" sz="1900" dirty="0"/>
          </a:p>
        </p:txBody>
      </p:sp>
      <p:sp>
        <p:nvSpPr>
          <p:cNvPr id="17" name="Tile 3 body"/>
          <p:cNvSpPr txBox="1"/>
          <p:nvPr/>
        </p:nvSpPr>
        <p:spPr>
          <a:xfrm>
            <a:off x="8302752" y="2679192"/>
            <a:ext cx="3108960" cy="640080"/>
          </a:xfrm>
          <a:prstGeom prst="rect">
            <a:avLst/>
          </a:prstGeom>
          <a:noFill/>
          <a:ln/>
        </p:spPr>
        <p:txBody>
          <a:bodyPr wrap="square" lIns="0" tIns="0" rIns="0" bIns="0" rtlCol="0" anchor="t"/>
          <a:lstStyle/>
          <a:p>
            <a:pPr indent="0" marL="0">
              <a:buNone/>
            </a:pPr>
            <a:r>
              <a:rPr lang="en-US" sz="1300" dirty="0">
                <a:solidFill>
                  <a:schemeClr val="accent6"/>
                </a:solidFill>
              </a:rPr>
              <a:t>Caught by our evaluation harness, with 0 false alerts on everyday moves. Synthetic data.</a:t>
            </a:r>
            <a:endParaRPr lang="en-US" sz="1300" dirty="0"/>
          </a:p>
        </p:txBody>
      </p:sp>
      <p:sp>
        <p:nvSpPr>
          <p:cNvPr id="18" name="Tile 4"/>
          <p:cNvSpPr/>
          <p:nvPr/>
        </p:nvSpPr>
        <p:spPr>
          <a:xfrm>
            <a:off x="548640" y="3566160"/>
            <a:ext cx="3566160" cy="1965960"/>
          </a:xfrm>
          <a:prstGeom prst="roundRect">
            <a:avLst>
              <a:gd name="adj" fmla="val 837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19" name="Tile 4 circle"/>
          <p:cNvSpPr/>
          <p:nvPr/>
        </p:nvSpPr>
        <p:spPr>
          <a:xfrm>
            <a:off x="804672" y="3840480"/>
            <a:ext cx="914400" cy="914400"/>
          </a:xfrm>
          <a:prstGeom prst="ellipse">
            <a:avLst/>
          </a:prstGeom>
          <a:solidFill>
            <a:srgbClr val="ECE7F8"/>
          </a:solidFill>
          <a:ln/>
        </p:spPr>
      </p:sp>
      <p:pic>
        <p:nvPicPr>
          <p:cNvPr id="20" name="Tile 4 icon" descr="Tile 4">    </p:cNvPr>
          <p:cNvPicPr>
            <a:picLocks noChangeAspect="1"/>
          </p:cNvPicPr>
          <p:nvPr/>
        </p:nvPicPr>
        <p:blipFill>
          <a:blip r:embed="rId4"/>
          <a:stretch>
            <a:fillRect/>
          </a:stretch>
        </p:blipFill>
        <p:spPr>
          <a:xfrm>
            <a:off x="996696" y="4032504"/>
            <a:ext cx="530352" cy="530352"/>
          </a:xfrm>
          <a:prstGeom prst="rect">
            <a:avLst/>
          </a:prstGeom>
        </p:spPr>
      </p:pic>
      <p:sp>
        <p:nvSpPr>
          <p:cNvPr id="21" name="Tile 4 head"/>
          <p:cNvSpPr txBox="1"/>
          <p:nvPr/>
        </p:nvSpPr>
        <p:spPr>
          <a:xfrm>
            <a:off x="1874520" y="3840480"/>
            <a:ext cx="2103120" cy="914400"/>
          </a:xfrm>
          <a:prstGeom prst="rect">
            <a:avLst/>
          </a:prstGeom>
          <a:noFill/>
          <a:ln/>
        </p:spPr>
        <p:txBody>
          <a:bodyPr wrap="square" lIns="0" tIns="0" rIns="0" bIns="0" rtlCol="0" anchor="ctr"/>
          <a:lstStyle/>
          <a:p>
            <a:pPr indent="0" marL="0">
              <a:buNone/>
            </a:pPr>
            <a:r>
              <a:rPr lang="en-US" sz="1900" b="1" dirty="0">
                <a:solidFill>
                  <a:schemeClr val="tx1"/>
                </a:solidFill>
              </a:rPr>
              <a:t>Hair-aware detection</a:t>
            </a:r>
            <a:endParaRPr lang="en-US" sz="1900" dirty="0"/>
          </a:p>
        </p:txBody>
      </p:sp>
      <p:sp>
        <p:nvSpPr>
          <p:cNvPr id="22" name="Tile 4 body"/>
          <p:cNvSpPr txBox="1"/>
          <p:nvPr/>
        </p:nvSpPr>
        <p:spPr>
          <a:xfrm>
            <a:off x="804672" y="4828032"/>
            <a:ext cx="3108960" cy="640080"/>
          </a:xfrm>
          <a:prstGeom prst="rect">
            <a:avLst/>
          </a:prstGeom>
          <a:noFill/>
          <a:ln/>
        </p:spPr>
        <p:txBody>
          <a:bodyPr wrap="square" lIns="0" tIns="0" rIns="0" bIns="0" rtlCol="0" anchor="t"/>
          <a:lstStyle/>
          <a:p>
            <a:pPr indent="0" marL="0">
              <a:buNone/>
            </a:pPr>
            <a:r>
              <a:rPr lang="en-US" sz="1300" dirty="0">
                <a:solidFill>
                  <a:schemeClr val="accent6"/>
                </a:solidFill>
              </a:rPr>
              <a:t>Added hair segmentation after our first user test missed a strand pull.</a:t>
            </a:r>
            <a:endParaRPr lang="en-US" sz="1300" dirty="0"/>
          </a:p>
        </p:txBody>
      </p:sp>
      <p:sp>
        <p:nvSpPr>
          <p:cNvPr id="23" name="Tile 5"/>
          <p:cNvSpPr/>
          <p:nvPr/>
        </p:nvSpPr>
        <p:spPr>
          <a:xfrm>
            <a:off x="4297680" y="3566160"/>
            <a:ext cx="3566160" cy="1965960"/>
          </a:xfrm>
          <a:prstGeom prst="roundRect">
            <a:avLst>
              <a:gd name="adj" fmla="val 837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24" name="Tile 5 circle"/>
          <p:cNvSpPr/>
          <p:nvPr/>
        </p:nvSpPr>
        <p:spPr>
          <a:xfrm>
            <a:off x="4553712" y="3840480"/>
            <a:ext cx="914400" cy="914400"/>
          </a:xfrm>
          <a:prstGeom prst="ellipse">
            <a:avLst/>
          </a:prstGeom>
          <a:solidFill>
            <a:srgbClr val="ECE7F8"/>
          </a:solidFill>
          <a:ln/>
        </p:spPr>
      </p:sp>
      <p:pic>
        <p:nvPicPr>
          <p:cNvPr id="25" name="Tile 5 icon" descr="Tile 5">    </p:cNvPr>
          <p:cNvPicPr>
            <a:picLocks noChangeAspect="1"/>
          </p:cNvPicPr>
          <p:nvPr/>
        </p:nvPicPr>
        <p:blipFill>
          <a:blip r:embed="rId5"/>
          <a:stretch>
            <a:fillRect/>
          </a:stretch>
        </p:blipFill>
        <p:spPr>
          <a:xfrm>
            <a:off x="4745736" y="4032504"/>
            <a:ext cx="530352" cy="530352"/>
          </a:xfrm>
          <a:prstGeom prst="rect">
            <a:avLst/>
          </a:prstGeom>
        </p:spPr>
      </p:pic>
      <p:sp>
        <p:nvSpPr>
          <p:cNvPr id="26" name="Tile 5 head"/>
          <p:cNvSpPr txBox="1"/>
          <p:nvPr/>
        </p:nvSpPr>
        <p:spPr>
          <a:xfrm>
            <a:off x="5623560" y="3840480"/>
            <a:ext cx="2103120" cy="914400"/>
          </a:xfrm>
          <a:prstGeom prst="rect">
            <a:avLst/>
          </a:prstGeom>
          <a:noFill/>
          <a:ln/>
        </p:spPr>
        <p:txBody>
          <a:bodyPr wrap="square" lIns="0" tIns="0" rIns="0" bIns="0" rtlCol="0" anchor="ctr"/>
          <a:lstStyle/>
          <a:p>
            <a:pPr indent="0" marL="0">
              <a:buNone/>
            </a:pPr>
            <a:r>
              <a:rPr lang="en-US" sz="1900" b="1" dirty="0">
                <a:solidFill>
                  <a:schemeClr val="tx1"/>
                </a:solidFill>
              </a:rPr>
              <a:t>Private by design</a:t>
            </a:r>
            <a:endParaRPr lang="en-US" sz="1900" dirty="0"/>
          </a:p>
        </p:txBody>
      </p:sp>
      <p:sp>
        <p:nvSpPr>
          <p:cNvPr id="27" name="Tile 5 body"/>
          <p:cNvSpPr txBox="1"/>
          <p:nvPr/>
        </p:nvSpPr>
        <p:spPr>
          <a:xfrm>
            <a:off x="4553712" y="4828032"/>
            <a:ext cx="3108960" cy="640080"/>
          </a:xfrm>
          <a:prstGeom prst="rect">
            <a:avLst/>
          </a:prstGeom>
          <a:noFill/>
          <a:ln/>
        </p:spPr>
        <p:txBody>
          <a:bodyPr wrap="square" lIns="0" tIns="0" rIns="0" bIns="0" rtlCol="0" anchor="t"/>
          <a:lstStyle/>
          <a:p>
            <a:pPr indent="0" marL="0">
              <a:buNone/>
            </a:pPr>
            <a:r>
              <a:rPr lang="en-US" sz="1300" dirty="0">
                <a:solidFill>
                  <a:schemeClr val="accent6"/>
                </a:solidFill>
              </a:rPr>
              <a:t>Video never stored or sent. Our own release audit found and fixed 11 issues.</a:t>
            </a:r>
            <a:endParaRPr lang="en-US" sz="1300" dirty="0"/>
          </a:p>
        </p:txBody>
      </p:sp>
      <p:sp>
        <p:nvSpPr>
          <p:cNvPr id="28" name="Tile 6"/>
          <p:cNvSpPr/>
          <p:nvPr/>
        </p:nvSpPr>
        <p:spPr>
          <a:xfrm>
            <a:off x="8046720" y="3566160"/>
            <a:ext cx="3566160" cy="1965960"/>
          </a:xfrm>
          <a:prstGeom prst="roundRect">
            <a:avLst>
              <a:gd name="adj" fmla="val 837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29" name="Tile 6 circle"/>
          <p:cNvSpPr/>
          <p:nvPr/>
        </p:nvSpPr>
        <p:spPr>
          <a:xfrm>
            <a:off x="8302752" y="3840480"/>
            <a:ext cx="914400" cy="914400"/>
          </a:xfrm>
          <a:prstGeom prst="ellipse">
            <a:avLst/>
          </a:prstGeom>
          <a:solidFill>
            <a:srgbClr val="ECE7F8"/>
          </a:solidFill>
          <a:ln/>
        </p:spPr>
      </p:sp>
      <p:pic>
        <p:nvPicPr>
          <p:cNvPr id="30" name="Tile 6 icon" descr="Tile 6">    </p:cNvPr>
          <p:cNvPicPr>
            <a:picLocks noChangeAspect="1"/>
          </p:cNvPicPr>
          <p:nvPr/>
        </p:nvPicPr>
        <p:blipFill>
          <a:blip r:embed="rId6"/>
          <a:stretch>
            <a:fillRect/>
          </a:stretch>
        </p:blipFill>
        <p:spPr>
          <a:xfrm>
            <a:off x="8494776" y="4032504"/>
            <a:ext cx="530352" cy="530352"/>
          </a:xfrm>
          <a:prstGeom prst="rect">
            <a:avLst/>
          </a:prstGeom>
        </p:spPr>
      </p:pic>
      <p:sp>
        <p:nvSpPr>
          <p:cNvPr id="31" name="Tile 6 head"/>
          <p:cNvSpPr txBox="1"/>
          <p:nvPr/>
        </p:nvSpPr>
        <p:spPr>
          <a:xfrm>
            <a:off x="9372600" y="3840480"/>
            <a:ext cx="2103120" cy="914400"/>
          </a:xfrm>
          <a:prstGeom prst="rect">
            <a:avLst/>
          </a:prstGeom>
          <a:noFill/>
          <a:ln/>
        </p:spPr>
        <p:txBody>
          <a:bodyPr wrap="square" lIns="0" tIns="0" rIns="0" bIns="0" rtlCol="0" anchor="ctr"/>
          <a:lstStyle/>
          <a:p>
            <a:pPr indent="0" marL="0">
              <a:buNone/>
            </a:pPr>
            <a:r>
              <a:rPr lang="en-US" sz="1900" b="1" dirty="0">
                <a:solidFill>
                  <a:schemeClr val="tx1"/>
                </a:solidFill>
              </a:rPr>
              <a:t>Expert engagement</a:t>
            </a:r>
            <a:endParaRPr lang="en-US" sz="1900" dirty="0"/>
          </a:p>
        </p:txBody>
      </p:sp>
      <p:sp>
        <p:nvSpPr>
          <p:cNvPr id="32" name="Tile 6 body"/>
          <p:cNvSpPr txBox="1"/>
          <p:nvPr/>
        </p:nvSpPr>
        <p:spPr>
          <a:xfrm>
            <a:off x="8302752" y="4828032"/>
            <a:ext cx="3108960" cy="640080"/>
          </a:xfrm>
          <a:prstGeom prst="rect">
            <a:avLst/>
          </a:prstGeom>
          <a:noFill/>
          <a:ln/>
        </p:spPr>
        <p:txBody>
          <a:bodyPr wrap="square" lIns="0" tIns="0" rIns="0" bIns="0" rtlCol="0" anchor="t"/>
          <a:lstStyle/>
          <a:p>
            <a:pPr indent="0" marL="0">
              <a:buNone/>
            </a:pPr>
            <a:r>
              <a:rPr lang="en-US" sz="1300" dirty="0">
                <a:solidFill>
                  <a:schemeClr val="accent6"/>
                </a:solidFill>
              </a:rPr>
              <a:t>A practitioner with 30+ years of experience offered to stay in touch and help.</a:t>
            </a:r>
            <a:endParaRPr lang="en-US" sz="1300" dirty="0"/>
          </a:p>
        </p:txBody>
      </p:sp>
      <p:sp>
        <p:nvSpPr>
          <p:cNvPr id="33" name="Next panel"/>
          <p:cNvSpPr/>
          <p:nvPr/>
        </p:nvSpPr>
        <p:spPr>
          <a:xfrm>
            <a:off x="548640" y="5760720"/>
            <a:ext cx="11064240" cy="530352"/>
          </a:xfrm>
          <a:prstGeom prst="roundRect">
            <a:avLst>
              <a:gd name="adj" fmla="val 50000"/>
            </a:avLst>
          </a:prstGeom>
          <a:solidFill>
            <a:schemeClr val="accent4"/>
          </a:solidFill>
          <a:ln/>
        </p:spPr>
      </p:sp>
      <p:sp>
        <p:nvSpPr>
          <p:cNvPr id="34" name="Next text"/>
          <p:cNvSpPr txBox="1"/>
          <p:nvPr/>
        </p:nvSpPr>
        <p:spPr>
          <a:xfrm>
            <a:off x="822960" y="5760720"/>
            <a:ext cx="10607040" cy="530352"/>
          </a:xfrm>
          <a:prstGeom prst="rect">
            <a:avLst/>
          </a:prstGeom>
          <a:noFill/>
          <a:ln/>
        </p:spPr>
        <p:txBody>
          <a:bodyPr wrap="square" lIns="0" tIns="0" rIns="0" bIns="0" rtlCol="0" anchor="ctr"/>
          <a:lstStyle/>
          <a:p>
            <a:pPr indent="0" marL="0">
              <a:buNone/>
            </a:pPr>
            <a:r>
              <a:rPr lang="en-US" sz="1500" b="1" dirty="0">
                <a:solidFill>
                  <a:schemeClr val="accent1"/>
                </a:solidFill>
              </a:rPr>
              <a:t>NEXT   </a:t>
            </a:r>
            <a:pPr indent="0" marL="0">
              <a:buNone/>
            </a:pPr>
            <a:r>
              <a:rPr lang="en-US" sz="1500" dirty="0">
                <a:solidFill>
                  <a:schemeClr val="tx1"/>
                </a:solidFill>
              </a:rPr>
              <a:t>Label our 100+ founder trials  →  measure real-world accuracy with new users  →  14-day pilot (already built in)</a:t>
            </a:r>
            <a:endParaRPr lang="en-US" sz="15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Support should not be a privilege</a:t>
            </a:r>
            <a:endParaRPr lang="en-US" sz="3600" dirty="0"/>
          </a:p>
        </p:txBody>
      </p:sp>
      <p:sp>
        <p:nvSpPr>
          <p:cNvPr id="3" name="Funnel label"/>
          <p:cNvSpPr txBox="1"/>
          <p:nvPr/>
        </p:nvSpPr>
        <p:spPr>
          <a:xfrm>
            <a:off x="548640" y="1325880"/>
            <a:ext cx="5120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WHO WE CAN REACH</a:t>
            </a:r>
            <a:endParaRPr lang="en-US" sz="1200" dirty="0"/>
          </a:p>
        </p:txBody>
      </p:sp>
      <p:sp>
        <p:nvSpPr>
          <p:cNvPr id="4" name="Funnel 1"/>
          <p:cNvSpPr/>
          <p:nvPr/>
        </p:nvSpPr>
        <p:spPr>
          <a:xfrm>
            <a:off x="548640" y="1691640"/>
            <a:ext cx="5120640" cy="822960"/>
          </a:xfrm>
          <a:prstGeom prst="roundRect">
            <a:avLst>
              <a:gd name="adj" fmla="val 16667"/>
            </a:avLst>
          </a:prstGeom>
          <a:solidFill>
            <a:srgbClr val="ECE7F8"/>
          </a:solidFill>
          <a:ln/>
        </p:spPr>
      </p:sp>
      <p:sp>
        <p:nvSpPr>
          <p:cNvPr id="5" name="Funnel 1 text"/>
          <p:cNvSpPr txBox="1"/>
          <p:nvPr/>
        </p:nvSpPr>
        <p:spPr>
          <a:xfrm>
            <a:off x="548640" y="1783080"/>
            <a:ext cx="5120640" cy="658368"/>
          </a:xfrm>
          <a:prstGeom prst="rect">
            <a:avLst/>
          </a:prstGeom>
          <a:noFill/>
          <a:ln/>
        </p:spPr>
        <p:txBody>
          <a:bodyPr wrap="square" lIns="0" tIns="0" rIns="0" bIns="0" rtlCol="0" anchor="ctr"/>
          <a:lstStyle/>
          <a:p>
            <a:pPr algn="ctr" indent="0" marL="0">
              <a:buNone/>
            </a:pPr>
            <a:r>
              <a:rPr lang="en-US" sz="1800" b="1" dirty="0">
                <a:solidFill>
                  <a:schemeClr val="tx1"/>
                </a:solidFill>
              </a:rPr>
              <a:t>~1 in 60 adults</a:t>
            </a:r>
            <a:endParaRPr lang="en-US" sz="1800" dirty="0"/>
          </a:p>
          <a:p>
            <a:pPr algn="ctr" indent="0" marL="0">
              <a:buNone/>
            </a:pPr>
            <a:r>
              <a:rPr lang="en-US" sz="1200" dirty="0">
                <a:solidFill>
                  <a:schemeClr val="tx1"/>
                </a:solidFill>
              </a:rPr>
              <a:t>live with trichotillomania worldwide</a:t>
            </a:r>
            <a:endParaRPr lang="en-US" sz="1800" dirty="0"/>
          </a:p>
        </p:txBody>
      </p:sp>
      <p:sp>
        <p:nvSpPr>
          <p:cNvPr id="6" name="Funnel 2"/>
          <p:cNvSpPr/>
          <p:nvPr/>
        </p:nvSpPr>
        <p:spPr>
          <a:xfrm>
            <a:off x="1005840" y="2624328"/>
            <a:ext cx="4206240" cy="822960"/>
          </a:xfrm>
          <a:prstGeom prst="roundRect">
            <a:avLst>
              <a:gd name="adj" fmla="val 16667"/>
            </a:avLst>
          </a:prstGeom>
          <a:solidFill>
            <a:srgbClr val="B5A8EC"/>
          </a:solidFill>
          <a:ln/>
        </p:spPr>
      </p:sp>
      <p:sp>
        <p:nvSpPr>
          <p:cNvPr id="7" name="Funnel 2 text"/>
          <p:cNvSpPr txBox="1"/>
          <p:nvPr/>
        </p:nvSpPr>
        <p:spPr>
          <a:xfrm>
            <a:off x="1005840" y="2715768"/>
            <a:ext cx="4206240" cy="658368"/>
          </a:xfrm>
          <a:prstGeom prst="rect">
            <a:avLst/>
          </a:prstGeom>
          <a:noFill/>
          <a:ln/>
        </p:spPr>
        <p:txBody>
          <a:bodyPr wrap="square" lIns="0" tIns="0" rIns="0" bIns="0" rtlCol="0" anchor="ctr"/>
          <a:lstStyle/>
          <a:p>
            <a:pPr algn="ctr" indent="0" marL="0">
              <a:buNone/>
            </a:pPr>
            <a:r>
              <a:rPr lang="en-US" sz="1800" b="1" dirty="0">
                <a:solidFill>
                  <a:schemeClr val="tx1"/>
                </a:solidFill>
              </a:rPr>
              <a:t>~80,000 in Singapore</a:t>
            </a:r>
            <a:endParaRPr lang="en-US" sz="1800" dirty="0"/>
          </a:p>
          <a:p>
            <a:pPr algn="ctr" indent="0" marL="0">
              <a:buNone/>
            </a:pPr>
            <a:r>
              <a:rPr lang="en-US" sz="1200" dirty="0">
                <a:solidFill>
                  <a:schemeClr val="tx1"/>
                </a:solidFill>
              </a:rPr>
              <a:t>adults, estimated from 1.7%</a:t>
            </a:r>
            <a:endParaRPr lang="en-US" sz="1800" dirty="0"/>
          </a:p>
        </p:txBody>
      </p:sp>
      <p:sp>
        <p:nvSpPr>
          <p:cNvPr id="8" name="Funnel 3"/>
          <p:cNvSpPr/>
          <p:nvPr/>
        </p:nvSpPr>
        <p:spPr>
          <a:xfrm>
            <a:off x="1463040" y="3557016"/>
            <a:ext cx="3291840" cy="822960"/>
          </a:xfrm>
          <a:prstGeom prst="roundRect">
            <a:avLst>
              <a:gd name="adj" fmla="val 16667"/>
            </a:avLst>
          </a:prstGeom>
          <a:solidFill>
            <a:srgbClr val="6A5AA8"/>
          </a:solidFill>
          <a:ln/>
        </p:spPr>
      </p:sp>
      <p:sp>
        <p:nvSpPr>
          <p:cNvPr id="9" name="Funnel 3 text"/>
          <p:cNvSpPr txBox="1"/>
          <p:nvPr/>
        </p:nvSpPr>
        <p:spPr>
          <a:xfrm>
            <a:off x="1463040" y="3648456"/>
            <a:ext cx="3291840" cy="658368"/>
          </a:xfrm>
          <a:prstGeom prst="rect">
            <a:avLst/>
          </a:prstGeom>
          <a:noFill/>
          <a:ln/>
        </p:spPr>
        <p:txBody>
          <a:bodyPr wrap="square" lIns="0" tIns="0" rIns="0" bIns="0" rtlCol="0" anchor="ctr"/>
          <a:lstStyle/>
          <a:p>
            <a:pPr algn="ctr" indent="0" marL="0">
              <a:buNone/>
            </a:pPr>
            <a:r>
              <a:rPr lang="en-US" sz="1800" b="1" dirty="0">
                <a:solidFill>
                  <a:schemeClr val="bg1"/>
                </a:solidFill>
              </a:rPr>
              <a:t>~680 at NUS</a:t>
            </a:r>
            <a:endParaRPr lang="en-US" sz="1800" dirty="0"/>
          </a:p>
          <a:p>
            <a:pPr algn="ctr" indent="0" marL="0">
              <a:buNone/>
            </a:pPr>
            <a:r>
              <a:rPr lang="en-US" sz="1200" dirty="0">
                <a:solidFill>
                  <a:schemeClr val="bg1"/>
                </a:solidFill>
              </a:rPr>
              <a:t>students: our beachhead, estimated</a:t>
            </a:r>
            <a:endParaRPr lang="en-US" sz="1800" dirty="0"/>
          </a:p>
        </p:txBody>
      </p:sp>
      <p:sp>
        <p:nvSpPr>
          <p:cNvPr id="10" name="Economics panel"/>
          <p:cNvSpPr/>
          <p:nvPr/>
        </p:nvSpPr>
        <p:spPr>
          <a:xfrm>
            <a:off x="548640" y="4572000"/>
            <a:ext cx="5120640" cy="1417320"/>
          </a:xfrm>
          <a:prstGeom prst="roundRect">
            <a:avLst>
              <a:gd name="adj" fmla="val 12903"/>
            </a:avLst>
          </a:prstGeom>
          <a:solidFill>
            <a:schemeClr val="tx1"/>
          </a:solidFill>
          <a:ln/>
        </p:spPr>
      </p:sp>
      <p:sp>
        <p:nvSpPr>
          <p:cNvPr id="11" name="Economics circle"/>
          <p:cNvSpPr/>
          <p:nvPr/>
        </p:nvSpPr>
        <p:spPr>
          <a:xfrm>
            <a:off x="777240" y="4800600"/>
            <a:ext cx="640080" cy="640080"/>
          </a:xfrm>
          <a:prstGeom prst="ellipse">
            <a:avLst/>
          </a:prstGeom>
          <a:solidFill>
            <a:srgbClr val="F6C453"/>
          </a:solidFill>
          <a:ln/>
        </p:spPr>
      </p:sp>
      <p:pic>
        <p:nvPicPr>
          <p:cNvPr id="12" name="Economics icon" descr="Economics">    </p:cNvPr>
          <p:cNvPicPr>
            <a:picLocks noChangeAspect="1"/>
          </p:cNvPicPr>
          <p:nvPr/>
        </p:nvPicPr>
        <p:blipFill>
          <a:blip r:embed="rId1"/>
          <a:stretch>
            <a:fillRect/>
          </a:stretch>
        </p:blipFill>
        <p:spPr>
          <a:xfrm>
            <a:off x="911657" y="4935017"/>
            <a:ext cx="371246" cy="371246"/>
          </a:xfrm>
          <a:prstGeom prst="rect">
            <a:avLst/>
          </a:prstGeom>
        </p:spPr>
      </p:pic>
      <p:sp>
        <p:nvSpPr>
          <p:cNvPr id="13" name="Economics text"/>
          <p:cNvSpPr txBox="1"/>
          <p:nvPr/>
        </p:nvSpPr>
        <p:spPr>
          <a:xfrm>
            <a:off x="1600200" y="4736592"/>
            <a:ext cx="3931920" cy="1188720"/>
          </a:xfrm>
          <a:prstGeom prst="rect">
            <a:avLst/>
          </a:prstGeom>
          <a:noFill/>
          <a:ln/>
        </p:spPr>
        <p:txBody>
          <a:bodyPr wrap="square" lIns="0" tIns="0" rIns="0" bIns="0" rtlCol="0" anchor="t"/>
          <a:lstStyle/>
          <a:p>
            <a:pPr indent="0" marL="0">
              <a:buNone/>
            </a:pPr>
            <a:r>
              <a:rPr lang="en-US" sz="1400" b="1" dirty="0">
                <a:solidFill>
                  <a:schemeClr val="accent3"/>
                </a:solidFill>
              </a:rPr>
              <a:t>Why the economics work</a:t>
            </a:r>
            <a:endParaRPr lang="en-US" sz="1400" dirty="0"/>
          </a:p>
          <a:p>
            <a:pPr indent="0" marL="0">
              <a:buNone/>
            </a:pPr>
            <a:r>
              <a:rPr lang="en-US" sz="1400" dirty="0">
                <a:solidFill>
                  <a:schemeClr val="bg1"/>
                </a:solidFill>
              </a:rPr>
              <a:t>All AI runs on the user’s laptop: no cloud GPUs, no video storage. Each extra user costs almost nothing, so a free tier is sustainable.</a:t>
            </a:r>
            <a:endParaRPr lang="en-US" sz="1400" dirty="0"/>
          </a:p>
        </p:txBody>
      </p:sp>
      <p:sp>
        <p:nvSpPr>
          <p:cNvPr id="14" name="Funnel source"/>
          <p:cNvSpPr txBox="1"/>
          <p:nvPr/>
        </p:nvSpPr>
        <p:spPr>
          <a:xfrm>
            <a:off x="548640" y="6053328"/>
            <a:ext cx="5120640" cy="320040"/>
          </a:xfrm>
          <a:prstGeom prst="rect">
            <a:avLst/>
          </a:prstGeom>
          <a:noFill/>
          <a:ln/>
        </p:spPr>
        <p:txBody>
          <a:bodyPr wrap="square" lIns="0" tIns="0" rIns="0" bIns="0" rtlCol="0" anchor="t"/>
          <a:lstStyle/>
          <a:p>
            <a:pPr indent="0" marL="0">
              <a:buNone/>
            </a:pPr>
            <a:r>
              <a:rPr lang="en-US" sz="1000" dirty="0">
                <a:solidFill>
                  <a:schemeClr val="accent6"/>
                </a:solidFill>
              </a:rPr>
              <a:t>Estimates apply 1.7% (Grant et al. 2020) to Singapore’s adult population and ~40,000 NUS students. Illustrative only.</a:t>
            </a:r>
            <a:endParaRPr lang="en-US" sz="1000" dirty="0"/>
          </a:p>
        </p:txBody>
      </p:sp>
      <p:sp>
        <p:nvSpPr>
          <p:cNvPr id="15" name="Tier 1"/>
          <p:cNvSpPr/>
          <p:nvPr/>
        </p:nvSpPr>
        <p:spPr>
          <a:xfrm>
            <a:off x="6035040" y="1325880"/>
            <a:ext cx="5577840" cy="1444752"/>
          </a:xfrm>
          <a:prstGeom prst="roundRect">
            <a:avLst>
              <a:gd name="adj" fmla="val 1139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16" name="Tier 1 circle"/>
          <p:cNvSpPr/>
          <p:nvPr/>
        </p:nvSpPr>
        <p:spPr>
          <a:xfrm>
            <a:off x="6263640" y="1554480"/>
            <a:ext cx="685800" cy="685800"/>
          </a:xfrm>
          <a:prstGeom prst="ellipse">
            <a:avLst/>
          </a:prstGeom>
          <a:solidFill>
            <a:srgbClr val="ECE7F8"/>
          </a:solidFill>
          <a:ln/>
        </p:spPr>
      </p:sp>
      <p:pic>
        <p:nvPicPr>
          <p:cNvPr id="17" name="Tier 1 icon" descr="Tier 1">    </p:cNvPr>
          <p:cNvPicPr>
            <a:picLocks noChangeAspect="1"/>
          </p:cNvPicPr>
          <p:nvPr/>
        </p:nvPicPr>
        <p:blipFill>
          <a:blip r:embed="rId2"/>
          <a:stretch>
            <a:fillRect/>
          </a:stretch>
        </p:blipFill>
        <p:spPr>
          <a:xfrm>
            <a:off x="6407658" y="1698498"/>
            <a:ext cx="397764" cy="397764"/>
          </a:xfrm>
          <a:prstGeom prst="rect">
            <a:avLst/>
          </a:prstGeom>
        </p:spPr>
      </p:pic>
      <p:sp>
        <p:nvSpPr>
          <p:cNvPr id="18" name="Tier 1 title"/>
          <p:cNvSpPr txBox="1"/>
          <p:nvPr/>
        </p:nvSpPr>
        <p:spPr>
          <a:xfrm>
            <a:off x="7132320" y="1508760"/>
            <a:ext cx="1828800" cy="365760"/>
          </a:xfrm>
          <a:prstGeom prst="rect">
            <a:avLst/>
          </a:prstGeom>
          <a:noFill/>
          <a:ln/>
        </p:spPr>
        <p:txBody>
          <a:bodyPr wrap="square" lIns="0" tIns="0" rIns="0" bIns="0" rtlCol="0" anchor="t"/>
          <a:lstStyle/>
          <a:p>
            <a:pPr indent="0" marL="0">
              <a:buNone/>
            </a:pPr>
            <a:r>
              <a:rPr lang="en-US" sz="1800" b="1" dirty="0">
                <a:solidFill>
                  <a:schemeClr val="tx1"/>
                </a:solidFill>
              </a:rPr>
              <a:t>Individuals</a:t>
            </a:r>
            <a:endParaRPr lang="en-US" sz="1800" dirty="0"/>
          </a:p>
        </p:txBody>
      </p:sp>
      <p:sp>
        <p:nvSpPr>
          <p:cNvPr id="19" name="Tier 1 chip"/>
          <p:cNvSpPr/>
          <p:nvPr/>
        </p:nvSpPr>
        <p:spPr>
          <a:xfrm>
            <a:off x="9006840" y="1527048"/>
            <a:ext cx="2423160" cy="329184"/>
          </a:xfrm>
          <a:prstGeom prst="roundRect">
            <a:avLst>
              <a:gd name="adj" fmla="val 50000"/>
            </a:avLst>
          </a:prstGeom>
          <a:solidFill>
            <a:srgbClr val="3F8A63"/>
          </a:solidFill>
          <a:ln/>
        </p:spPr>
      </p:sp>
      <p:sp>
        <p:nvSpPr>
          <p:cNvPr id="20" name="Tier 1 chip text"/>
          <p:cNvSpPr txBox="1"/>
          <p:nvPr/>
        </p:nvSpPr>
        <p:spPr>
          <a:xfrm>
            <a:off x="9006840" y="1527048"/>
            <a:ext cx="2423160" cy="329184"/>
          </a:xfrm>
          <a:prstGeom prst="rect">
            <a:avLst/>
          </a:prstGeom>
          <a:noFill/>
          <a:ln/>
        </p:spPr>
        <p:txBody>
          <a:bodyPr wrap="square" lIns="0" tIns="0" rIns="0" bIns="0" rtlCol="0" anchor="ctr"/>
          <a:lstStyle/>
          <a:p>
            <a:pPr algn="ctr" indent="0" marL="0">
              <a:buNone/>
            </a:pPr>
            <a:r>
              <a:rPr lang="en-US" sz="1200" b="1" dirty="0">
                <a:solidFill>
                  <a:schemeClr val="bg1"/>
                </a:solidFill>
              </a:rPr>
              <a:t>Free</a:t>
            </a:r>
            <a:endParaRPr lang="en-US" sz="1200" dirty="0"/>
          </a:p>
        </p:txBody>
      </p:sp>
      <p:sp>
        <p:nvSpPr>
          <p:cNvPr id="21" name="Tier 1 body"/>
          <p:cNvSpPr txBox="1"/>
          <p:nvPr/>
        </p:nvSpPr>
        <p:spPr>
          <a:xfrm>
            <a:off x="7132320" y="1947672"/>
            <a:ext cx="4343400" cy="777240"/>
          </a:xfrm>
          <a:prstGeom prst="rect">
            <a:avLst/>
          </a:prstGeom>
          <a:noFill/>
          <a:ln/>
        </p:spPr>
        <p:txBody>
          <a:bodyPr wrap="square" lIns="0" tIns="0" rIns="0" bIns="0" rtlCol="0" anchor="t"/>
          <a:lstStyle/>
          <a:p>
            <a:pPr indent="0" marL="0">
              <a:buNone/>
            </a:pPr>
            <a:r>
              <a:rPr lang="en-US" sz="1300" dirty="0">
                <a:solidFill>
                  <a:schemeClr val="accent6"/>
                </a:solidFill>
              </a:rPr>
              <a:t>Core detection and own-voice reminders. No device to buy: a wearable costs ~US$150+, a webcam is already there.</a:t>
            </a:r>
            <a:endParaRPr lang="en-US" sz="1300" dirty="0"/>
          </a:p>
        </p:txBody>
      </p:sp>
      <p:sp>
        <p:nvSpPr>
          <p:cNvPr id="22" name="Tier 2"/>
          <p:cNvSpPr/>
          <p:nvPr/>
        </p:nvSpPr>
        <p:spPr>
          <a:xfrm>
            <a:off x="6035040" y="2926080"/>
            <a:ext cx="5577840" cy="1444752"/>
          </a:xfrm>
          <a:prstGeom prst="roundRect">
            <a:avLst>
              <a:gd name="adj" fmla="val 1139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23" name="Tier 2 circle"/>
          <p:cNvSpPr/>
          <p:nvPr/>
        </p:nvSpPr>
        <p:spPr>
          <a:xfrm>
            <a:off x="6263640" y="3154680"/>
            <a:ext cx="685800" cy="685800"/>
          </a:xfrm>
          <a:prstGeom prst="ellipse">
            <a:avLst/>
          </a:prstGeom>
          <a:solidFill>
            <a:srgbClr val="ECE7F8"/>
          </a:solidFill>
          <a:ln/>
        </p:spPr>
      </p:sp>
      <p:pic>
        <p:nvPicPr>
          <p:cNvPr id="24" name="Tier 2 icon" descr="Tier 2">    </p:cNvPr>
          <p:cNvPicPr>
            <a:picLocks noChangeAspect="1"/>
          </p:cNvPicPr>
          <p:nvPr/>
        </p:nvPicPr>
        <p:blipFill>
          <a:blip r:embed="rId3"/>
          <a:stretch>
            <a:fillRect/>
          </a:stretch>
        </p:blipFill>
        <p:spPr>
          <a:xfrm>
            <a:off x="6407658" y="3298698"/>
            <a:ext cx="397764" cy="397764"/>
          </a:xfrm>
          <a:prstGeom prst="rect">
            <a:avLst/>
          </a:prstGeom>
        </p:spPr>
      </p:pic>
      <p:sp>
        <p:nvSpPr>
          <p:cNvPr id="25" name="Tier 2 title"/>
          <p:cNvSpPr txBox="1"/>
          <p:nvPr/>
        </p:nvSpPr>
        <p:spPr>
          <a:xfrm>
            <a:off x="7132320" y="3108960"/>
            <a:ext cx="1828800" cy="365760"/>
          </a:xfrm>
          <a:prstGeom prst="rect">
            <a:avLst/>
          </a:prstGeom>
          <a:noFill/>
          <a:ln/>
        </p:spPr>
        <p:txBody>
          <a:bodyPr wrap="square" lIns="0" tIns="0" rIns="0" bIns="0" rtlCol="0" anchor="t"/>
          <a:lstStyle/>
          <a:p>
            <a:pPr indent="0" marL="0">
              <a:buNone/>
            </a:pPr>
            <a:r>
              <a:rPr lang="en-US" sz="1800" b="1" dirty="0">
                <a:solidFill>
                  <a:schemeClr val="tx1"/>
                </a:solidFill>
              </a:rPr>
              <a:t>Institutions</a:t>
            </a:r>
            <a:endParaRPr lang="en-US" sz="1800" dirty="0"/>
          </a:p>
        </p:txBody>
      </p:sp>
      <p:sp>
        <p:nvSpPr>
          <p:cNvPr id="26" name="Tier 2 chip"/>
          <p:cNvSpPr/>
          <p:nvPr/>
        </p:nvSpPr>
        <p:spPr>
          <a:xfrm>
            <a:off x="9006840" y="3127248"/>
            <a:ext cx="2423160" cy="329184"/>
          </a:xfrm>
          <a:prstGeom prst="roundRect">
            <a:avLst>
              <a:gd name="adj" fmla="val 50000"/>
            </a:avLst>
          </a:prstGeom>
          <a:solidFill>
            <a:srgbClr val="6A5AA8"/>
          </a:solidFill>
          <a:ln/>
        </p:spPr>
      </p:sp>
      <p:sp>
        <p:nvSpPr>
          <p:cNvPr id="27" name="Tier 2 chip text"/>
          <p:cNvSpPr txBox="1"/>
          <p:nvPr/>
        </p:nvSpPr>
        <p:spPr>
          <a:xfrm>
            <a:off x="9006840" y="3127248"/>
            <a:ext cx="2423160" cy="329184"/>
          </a:xfrm>
          <a:prstGeom prst="rect">
            <a:avLst/>
          </a:prstGeom>
          <a:noFill/>
          <a:ln/>
        </p:spPr>
        <p:txBody>
          <a:bodyPr wrap="square" lIns="0" tIns="0" rIns="0" bIns="0" rtlCol="0" anchor="ctr"/>
          <a:lstStyle/>
          <a:p>
            <a:pPr algn="ctr" indent="0" marL="0">
              <a:buNone/>
            </a:pPr>
            <a:r>
              <a:rPr lang="en-US" sz="1200" b="1" dirty="0">
                <a:solidFill>
                  <a:schemeClr val="bg1"/>
                </a:solidFill>
              </a:rPr>
              <a:t>Paid licence · hypothesis</a:t>
            </a:r>
            <a:endParaRPr lang="en-US" sz="1200" dirty="0"/>
          </a:p>
        </p:txBody>
      </p:sp>
      <p:sp>
        <p:nvSpPr>
          <p:cNvPr id="28" name="Tier 2 body"/>
          <p:cNvSpPr txBox="1"/>
          <p:nvPr/>
        </p:nvSpPr>
        <p:spPr>
          <a:xfrm>
            <a:off x="7132320" y="3547872"/>
            <a:ext cx="4343400" cy="777240"/>
          </a:xfrm>
          <a:prstGeom prst="rect">
            <a:avLst/>
          </a:prstGeom>
          <a:noFill/>
          <a:ln/>
        </p:spPr>
        <p:txBody>
          <a:bodyPr wrap="square" lIns="0" tIns="0" rIns="0" bIns="0" rtlCol="0" anchor="t"/>
          <a:lstStyle/>
          <a:p>
            <a:pPr indent="0" marL="0">
              <a:buNone/>
            </a:pPr>
            <a:r>
              <a:rPr lang="en-US" sz="1300" dirty="0">
                <a:solidFill>
                  <a:schemeClr val="accent6"/>
                </a:solidFill>
              </a:rPr>
              <a:t>University wellbeing services and BFRB organisations offer supported access to their communities. Willingness to pay is untested: we test it in Stage 3.</a:t>
            </a:r>
            <a:endParaRPr lang="en-US" sz="1300" dirty="0"/>
          </a:p>
        </p:txBody>
      </p:sp>
      <p:sp>
        <p:nvSpPr>
          <p:cNvPr id="29" name="Tier 3"/>
          <p:cNvSpPr/>
          <p:nvPr/>
        </p:nvSpPr>
        <p:spPr>
          <a:xfrm>
            <a:off x="6035040" y="4526280"/>
            <a:ext cx="5577840" cy="1444752"/>
          </a:xfrm>
          <a:prstGeom prst="roundRect">
            <a:avLst>
              <a:gd name="adj" fmla="val 11392"/>
            </a:avLst>
          </a:prstGeom>
          <a:solidFill>
            <a:schemeClr val="bg1"/>
          </a:solidFill>
          <a:ln w="12700">
            <a:solidFill>
              <a:srgbClr val="ECE7F8"/>
            </a:solidFill>
            <a:prstDash val="solid"/>
          </a:ln>
          <a:effectLst>
            <a:outerShdw sx="100000" sy="100000" kx="0" ky="0" algn="bl" rotWithShape="0" blurRad="101600" dist="25400" dir="5400000">
              <a:srgbClr val="2A2640">
                <a:alpha val="8000"/>
              </a:srgbClr>
            </a:outerShdw>
          </a:effectLst>
        </p:spPr>
      </p:sp>
      <p:sp>
        <p:nvSpPr>
          <p:cNvPr id="30" name="Tier 3 circle"/>
          <p:cNvSpPr/>
          <p:nvPr/>
        </p:nvSpPr>
        <p:spPr>
          <a:xfrm>
            <a:off x="6263640" y="4754880"/>
            <a:ext cx="685800" cy="685800"/>
          </a:xfrm>
          <a:prstGeom prst="ellipse">
            <a:avLst/>
          </a:prstGeom>
          <a:solidFill>
            <a:srgbClr val="ECE7F8"/>
          </a:solidFill>
          <a:ln/>
        </p:spPr>
      </p:sp>
      <p:pic>
        <p:nvPicPr>
          <p:cNvPr id="31" name="Tier 3 icon" descr="Tier 3">    </p:cNvPr>
          <p:cNvPicPr>
            <a:picLocks noChangeAspect="1"/>
          </p:cNvPicPr>
          <p:nvPr/>
        </p:nvPicPr>
        <p:blipFill>
          <a:blip r:embed="rId4"/>
          <a:stretch>
            <a:fillRect/>
          </a:stretch>
        </p:blipFill>
        <p:spPr>
          <a:xfrm>
            <a:off x="6407658" y="4898898"/>
            <a:ext cx="397764" cy="397764"/>
          </a:xfrm>
          <a:prstGeom prst="rect">
            <a:avLst/>
          </a:prstGeom>
        </p:spPr>
      </p:pic>
      <p:sp>
        <p:nvSpPr>
          <p:cNvPr id="32" name="Tier 3 title"/>
          <p:cNvSpPr txBox="1"/>
          <p:nvPr/>
        </p:nvSpPr>
        <p:spPr>
          <a:xfrm>
            <a:off x="7132320" y="4709160"/>
            <a:ext cx="1828800" cy="365760"/>
          </a:xfrm>
          <a:prstGeom prst="rect">
            <a:avLst/>
          </a:prstGeom>
          <a:noFill/>
          <a:ln/>
        </p:spPr>
        <p:txBody>
          <a:bodyPr wrap="square" lIns="0" tIns="0" rIns="0" bIns="0" rtlCol="0" anchor="t"/>
          <a:lstStyle/>
          <a:p>
            <a:pPr indent="0" marL="0">
              <a:buNone/>
            </a:pPr>
            <a:r>
              <a:rPr lang="en-US" sz="1800" b="1" dirty="0">
                <a:solidFill>
                  <a:schemeClr val="tx1"/>
                </a:solidFill>
              </a:rPr>
              <a:t>Practitioners</a:t>
            </a:r>
            <a:endParaRPr lang="en-US" sz="1800" dirty="0"/>
          </a:p>
        </p:txBody>
      </p:sp>
      <p:sp>
        <p:nvSpPr>
          <p:cNvPr id="33" name="Tier 3 chip"/>
          <p:cNvSpPr/>
          <p:nvPr/>
        </p:nvSpPr>
        <p:spPr>
          <a:xfrm>
            <a:off x="9006840" y="4727448"/>
            <a:ext cx="2423160" cy="329184"/>
          </a:xfrm>
          <a:prstGeom prst="roundRect">
            <a:avLst>
              <a:gd name="adj" fmla="val 50000"/>
            </a:avLst>
          </a:prstGeom>
          <a:solidFill>
            <a:srgbClr val="5F5A75"/>
          </a:solidFill>
          <a:ln/>
        </p:spPr>
      </p:sp>
      <p:sp>
        <p:nvSpPr>
          <p:cNvPr id="34" name="Tier 3 chip text"/>
          <p:cNvSpPr txBox="1"/>
          <p:nvPr/>
        </p:nvSpPr>
        <p:spPr>
          <a:xfrm>
            <a:off x="9006840" y="4727448"/>
            <a:ext cx="2423160" cy="329184"/>
          </a:xfrm>
          <a:prstGeom prst="rect">
            <a:avLst/>
          </a:prstGeom>
          <a:noFill/>
          <a:ln/>
        </p:spPr>
        <p:txBody>
          <a:bodyPr wrap="square" lIns="0" tIns="0" rIns="0" bIns="0" rtlCol="0" anchor="ctr"/>
          <a:lstStyle/>
          <a:p>
            <a:pPr algn="ctr" indent="0" marL="0">
              <a:buNone/>
            </a:pPr>
            <a:r>
              <a:rPr lang="en-US" sz="1200" b="1" dirty="0">
                <a:solidFill>
                  <a:schemeClr val="bg1"/>
                </a:solidFill>
              </a:rPr>
              <a:t>Long-term · not built</a:t>
            </a:r>
            <a:endParaRPr lang="en-US" sz="1200" dirty="0"/>
          </a:p>
        </p:txBody>
      </p:sp>
      <p:sp>
        <p:nvSpPr>
          <p:cNvPr id="35" name="Tier 3 body"/>
          <p:cNvSpPr txBox="1"/>
          <p:nvPr/>
        </p:nvSpPr>
        <p:spPr>
          <a:xfrm>
            <a:off x="7132320" y="5148072"/>
            <a:ext cx="4343400" cy="777240"/>
          </a:xfrm>
          <a:prstGeom prst="rect">
            <a:avLst/>
          </a:prstGeom>
          <a:noFill/>
          <a:ln/>
        </p:spPr>
        <p:txBody>
          <a:bodyPr wrap="square" lIns="0" tIns="0" rIns="0" bIns="0" rtlCol="0" anchor="t"/>
          <a:lstStyle/>
          <a:p>
            <a:pPr indent="0" marL="0">
              <a:buNone/>
            </a:pPr>
            <a:r>
              <a:rPr lang="en-US" sz="1300" dirty="0">
                <a:solidFill>
                  <a:schemeClr val="accent6"/>
                </a:solidFill>
              </a:rPr>
              <a:t>A between-session tool clients choose to use, with consent-based sharing. The same hand-to-face engine could later support other BFRBs.</a:t>
            </a:r>
            <a:endParaRPr lang="en-US" sz="13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Every step earns the next</a:t>
            </a:r>
            <a:endParaRPr lang="en-US" sz="3600" dirty="0"/>
          </a:p>
        </p:txBody>
      </p:sp>
      <p:sp>
        <p:nvSpPr>
          <p:cNvPr id="3" name="Stair 1"/>
          <p:cNvSpPr/>
          <p:nvPr/>
        </p:nvSpPr>
        <p:spPr>
          <a:xfrm>
            <a:off x="548640" y="3520440"/>
            <a:ext cx="2697480" cy="2606040"/>
          </a:xfrm>
          <a:prstGeom prst="roundRect">
            <a:avLst>
              <a:gd name="adj" fmla="val 4211"/>
            </a:avLst>
          </a:prstGeom>
          <a:solidFill>
            <a:srgbClr val="ECE7F8"/>
          </a:solidFill>
          <a:ln/>
        </p:spPr>
      </p:sp>
      <p:sp>
        <p:nvSpPr>
          <p:cNvPr id="4" name="Stair 1 label"/>
          <p:cNvSpPr txBox="1"/>
          <p:nvPr/>
        </p:nvSpPr>
        <p:spPr>
          <a:xfrm>
            <a:off x="731520" y="3657600"/>
            <a:ext cx="2331720" cy="256032"/>
          </a:xfrm>
          <a:prstGeom prst="rect">
            <a:avLst/>
          </a:prstGeom>
          <a:noFill/>
          <a:ln/>
        </p:spPr>
        <p:txBody>
          <a:bodyPr wrap="square" lIns="0" tIns="0" rIns="0" bIns="0" rtlCol="0" anchor="t"/>
          <a:lstStyle/>
          <a:p>
            <a:pPr indent="0" marL="0">
              <a:buNone/>
            </a:pPr>
            <a:r>
              <a:rPr lang="en-US" sz="1100" b="1" dirty="0">
                <a:solidFill>
                  <a:srgbClr val="56478F"/>
                </a:solidFill>
              </a:rPr>
              <a:t>STAGE 1  ·  Nov–Dec 2026</a:t>
            </a:r>
            <a:endParaRPr lang="en-US" sz="1100" dirty="0"/>
          </a:p>
        </p:txBody>
      </p:sp>
      <p:sp>
        <p:nvSpPr>
          <p:cNvPr id="5" name="Stair 1 title"/>
          <p:cNvSpPr txBox="1"/>
          <p:nvPr/>
        </p:nvSpPr>
        <p:spPr>
          <a:xfrm>
            <a:off x="731520" y="3931920"/>
            <a:ext cx="2331720" cy="384048"/>
          </a:xfrm>
          <a:prstGeom prst="rect">
            <a:avLst/>
          </a:prstGeom>
          <a:noFill/>
          <a:ln/>
        </p:spPr>
        <p:txBody>
          <a:bodyPr wrap="square" lIns="0" tIns="0" rIns="0" bIns="0" rtlCol="0" anchor="t"/>
          <a:lstStyle/>
          <a:p>
            <a:pPr indent="0" marL="0">
              <a:buNone/>
            </a:pPr>
            <a:r>
              <a:rPr lang="en-US" sz="2000" b="1" dirty="0">
                <a:solidFill>
                  <a:schemeClr val="tx1"/>
                </a:solidFill>
              </a:rPr>
              <a:t>Validate</a:t>
            </a:r>
            <a:endParaRPr lang="en-US" sz="2000" dirty="0"/>
          </a:p>
        </p:txBody>
      </p:sp>
      <p:sp>
        <p:nvSpPr>
          <p:cNvPr id="6" name="Stair 1 activity"/>
          <p:cNvSpPr txBox="1"/>
          <p:nvPr/>
        </p:nvSpPr>
        <p:spPr>
          <a:xfrm>
            <a:off x="731520" y="4343400"/>
            <a:ext cx="2331720" cy="566928"/>
          </a:xfrm>
          <a:prstGeom prst="rect">
            <a:avLst/>
          </a:prstGeom>
          <a:noFill/>
          <a:ln/>
        </p:spPr>
        <p:txBody>
          <a:bodyPr wrap="square" lIns="0" tIns="0" rIns="0" bIns="0" rtlCol="0" anchor="t"/>
          <a:lstStyle/>
          <a:p>
            <a:pPr indent="0" marL="0">
              <a:buNone/>
            </a:pPr>
            <a:r>
              <a:rPr lang="en-US" sz="1200" dirty="0">
                <a:solidFill>
                  <a:schemeClr val="tx1"/>
                </a:solidFill>
              </a:rPr>
              <a:t>Label our 100+ trials; observe 3–5 first-time users</a:t>
            </a:r>
            <a:endParaRPr lang="en-US" sz="1200" dirty="0"/>
          </a:p>
        </p:txBody>
      </p:sp>
      <p:sp>
        <p:nvSpPr>
          <p:cNvPr id="7" name="Stair 1 metric"/>
          <p:cNvSpPr txBox="1"/>
          <p:nvPr/>
        </p:nvSpPr>
        <p:spPr>
          <a:xfrm>
            <a:off x="731520" y="5422392"/>
            <a:ext cx="2331720" cy="457200"/>
          </a:xfrm>
          <a:prstGeom prst="rect">
            <a:avLst/>
          </a:prstGeom>
          <a:noFill/>
          <a:ln/>
        </p:spPr>
        <p:txBody>
          <a:bodyPr wrap="square" lIns="0" tIns="0" rIns="0" bIns="0" rtlCol="0" anchor="b"/>
          <a:lstStyle/>
          <a:p>
            <a:pPr indent="0" marL="0">
              <a:buNone/>
            </a:pPr>
            <a:r>
              <a:rPr lang="en-US" sz="1100" b="1" i="1" dirty="0">
                <a:solidFill>
                  <a:schemeClr val="tx1"/>
                </a:solidFill>
              </a:rPr>
              <a:t>Measure: </a:t>
            </a:r>
            <a:pPr indent="0" marL="0">
              <a:buNone/>
            </a:pPr>
            <a:r>
              <a:rPr lang="en-US" sz="1100" i="1" dirty="0">
                <a:solidFill>
                  <a:schemeClr val="tx1"/>
                </a:solidFill>
              </a:rPr>
              <a:t>Sensitivity · false alerts per hour</a:t>
            </a:r>
            <a:endParaRPr lang="en-US" sz="1100" dirty="0"/>
          </a:p>
        </p:txBody>
      </p:sp>
      <p:sp>
        <p:nvSpPr>
          <p:cNvPr id="8" name="Stair 1 nusc"/>
          <p:cNvSpPr txBox="1"/>
          <p:nvPr/>
        </p:nvSpPr>
        <p:spPr>
          <a:xfrm>
            <a:off x="731520" y="4983480"/>
            <a:ext cx="2331720" cy="411480"/>
          </a:xfrm>
          <a:prstGeom prst="rect">
            <a:avLst/>
          </a:prstGeom>
          <a:noFill/>
          <a:ln/>
        </p:spPr>
        <p:txBody>
          <a:bodyPr wrap="square" lIns="0" tIns="0" rIns="0" bIns="0" rtlCol="0" anchor="t"/>
          <a:lstStyle/>
          <a:p>
            <a:pPr indent="0" marL="0">
              <a:buNone/>
            </a:pPr>
            <a:r>
              <a:rPr lang="en-US" sz="1100" b="1" dirty="0">
                <a:solidFill>
                  <a:srgbClr val="56478F"/>
                </a:solidFill>
              </a:rPr>
              <a:t>NUSC: </a:t>
            </a:r>
            <a:pPr indent="0" marL="0">
              <a:buNone/>
            </a:pPr>
            <a:r>
              <a:rPr lang="en-US" sz="1100" dirty="0">
                <a:solidFill>
                  <a:srgbClr val="56478F"/>
                </a:solidFill>
              </a:rPr>
              <a:t>Technical &amp; research mentors</a:t>
            </a:r>
            <a:endParaRPr lang="en-US" sz="1100" dirty="0"/>
          </a:p>
        </p:txBody>
      </p:sp>
      <p:sp>
        <p:nvSpPr>
          <p:cNvPr id="9" name="Stair 2"/>
          <p:cNvSpPr/>
          <p:nvPr/>
        </p:nvSpPr>
        <p:spPr>
          <a:xfrm>
            <a:off x="3337560" y="3154680"/>
            <a:ext cx="2697480" cy="2971800"/>
          </a:xfrm>
          <a:prstGeom prst="roundRect">
            <a:avLst>
              <a:gd name="adj" fmla="val 4068"/>
            </a:avLst>
          </a:prstGeom>
          <a:solidFill>
            <a:srgbClr val="C9BFF3"/>
          </a:solidFill>
          <a:ln/>
        </p:spPr>
      </p:sp>
      <p:sp>
        <p:nvSpPr>
          <p:cNvPr id="10" name="Stair 2 label"/>
          <p:cNvSpPr txBox="1"/>
          <p:nvPr/>
        </p:nvSpPr>
        <p:spPr>
          <a:xfrm>
            <a:off x="3520440" y="3291840"/>
            <a:ext cx="2331720" cy="256032"/>
          </a:xfrm>
          <a:prstGeom prst="rect">
            <a:avLst/>
          </a:prstGeom>
          <a:noFill/>
          <a:ln/>
        </p:spPr>
        <p:txBody>
          <a:bodyPr wrap="square" lIns="0" tIns="0" rIns="0" bIns="0" rtlCol="0" anchor="t"/>
          <a:lstStyle/>
          <a:p>
            <a:pPr indent="0" marL="0">
              <a:buNone/>
            </a:pPr>
            <a:r>
              <a:rPr lang="en-US" sz="1100" b="1" dirty="0">
                <a:solidFill>
                  <a:srgbClr val="56478F"/>
                </a:solidFill>
              </a:rPr>
              <a:t>STAGE 2  ·  Q1 2027</a:t>
            </a:r>
            <a:endParaRPr lang="en-US" sz="1100" dirty="0"/>
          </a:p>
        </p:txBody>
      </p:sp>
      <p:sp>
        <p:nvSpPr>
          <p:cNvPr id="11" name="Stair 2 title"/>
          <p:cNvSpPr txBox="1"/>
          <p:nvPr/>
        </p:nvSpPr>
        <p:spPr>
          <a:xfrm>
            <a:off x="3520440" y="3566160"/>
            <a:ext cx="2331720" cy="384048"/>
          </a:xfrm>
          <a:prstGeom prst="rect">
            <a:avLst/>
          </a:prstGeom>
          <a:noFill/>
          <a:ln/>
        </p:spPr>
        <p:txBody>
          <a:bodyPr wrap="square" lIns="0" tIns="0" rIns="0" bIns="0" rtlCol="0" anchor="t"/>
          <a:lstStyle/>
          <a:p>
            <a:pPr indent="0" marL="0">
              <a:buNone/>
            </a:pPr>
            <a:r>
              <a:rPr lang="en-US" sz="2000" b="1" dirty="0">
                <a:solidFill>
                  <a:schemeClr val="tx1"/>
                </a:solidFill>
              </a:rPr>
              <a:t>Pilot</a:t>
            </a:r>
            <a:endParaRPr lang="en-US" sz="2000" dirty="0"/>
          </a:p>
        </p:txBody>
      </p:sp>
      <p:sp>
        <p:nvSpPr>
          <p:cNvPr id="12" name="Stair 2 activity"/>
          <p:cNvSpPr txBox="1"/>
          <p:nvPr/>
        </p:nvSpPr>
        <p:spPr>
          <a:xfrm>
            <a:off x="3520440" y="3977640"/>
            <a:ext cx="2331720" cy="566928"/>
          </a:xfrm>
          <a:prstGeom prst="rect">
            <a:avLst/>
          </a:prstGeom>
          <a:noFill/>
          <a:ln/>
        </p:spPr>
        <p:txBody>
          <a:bodyPr wrap="square" lIns="0" tIns="0" rIns="0" bIns="0" rtlCol="0" anchor="t"/>
          <a:lstStyle/>
          <a:p>
            <a:pPr indent="0" marL="0">
              <a:buNone/>
            </a:pPr>
            <a:r>
              <a:rPr lang="en-US" sz="1200" dirty="0">
                <a:solidFill>
                  <a:schemeClr val="tx1"/>
                </a:solidFill>
              </a:rPr>
              <a:t>Ethics-reviewed 14-day pilot: 3-day baseline, then chime vs own voice</a:t>
            </a:r>
            <a:endParaRPr lang="en-US" sz="1200" dirty="0"/>
          </a:p>
        </p:txBody>
      </p:sp>
      <p:sp>
        <p:nvSpPr>
          <p:cNvPr id="13" name="Stair 2 metric"/>
          <p:cNvSpPr txBox="1"/>
          <p:nvPr/>
        </p:nvSpPr>
        <p:spPr>
          <a:xfrm>
            <a:off x="3520440" y="5422392"/>
            <a:ext cx="2331720" cy="457200"/>
          </a:xfrm>
          <a:prstGeom prst="rect">
            <a:avLst/>
          </a:prstGeom>
          <a:noFill/>
          <a:ln/>
        </p:spPr>
        <p:txBody>
          <a:bodyPr wrap="square" lIns="0" tIns="0" rIns="0" bIns="0" rtlCol="0" anchor="b"/>
          <a:lstStyle/>
          <a:p>
            <a:pPr indent="0" marL="0">
              <a:buNone/>
            </a:pPr>
            <a:r>
              <a:rPr lang="en-US" sz="1100" b="1" i="1" dirty="0">
                <a:solidFill>
                  <a:schemeClr val="tx1"/>
                </a:solidFill>
              </a:rPr>
              <a:t>Measure: </a:t>
            </a:r>
            <a:pPr indent="0" marL="0">
              <a:buNone/>
            </a:pPr>
            <a:r>
              <a:rPr lang="en-US" sz="1100" i="1" dirty="0">
                <a:solidFill>
                  <a:schemeClr val="tx1"/>
                </a:solidFill>
              </a:rPr>
              <a:t>Helpfulness · acceptability · hand-down rate</a:t>
            </a:r>
            <a:endParaRPr lang="en-US" sz="1100" dirty="0"/>
          </a:p>
        </p:txBody>
      </p:sp>
      <p:sp>
        <p:nvSpPr>
          <p:cNvPr id="14" name="Stair 2 nusc"/>
          <p:cNvSpPr txBox="1"/>
          <p:nvPr/>
        </p:nvSpPr>
        <p:spPr>
          <a:xfrm>
            <a:off x="3520440" y="4617720"/>
            <a:ext cx="2331720" cy="411480"/>
          </a:xfrm>
          <a:prstGeom prst="rect">
            <a:avLst/>
          </a:prstGeom>
          <a:noFill/>
          <a:ln/>
        </p:spPr>
        <p:txBody>
          <a:bodyPr wrap="square" lIns="0" tIns="0" rIns="0" bIns="0" rtlCol="0" anchor="t"/>
          <a:lstStyle/>
          <a:p>
            <a:pPr indent="0" marL="0">
              <a:buNone/>
            </a:pPr>
            <a:r>
              <a:rPr lang="en-US" sz="1100" b="1" dirty="0">
                <a:solidFill>
                  <a:srgbClr val="56478F"/>
                </a:solidFill>
              </a:rPr>
              <a:t>NUSC: </a:t>
            </a:r>
            <a:pPr indent="0" marL="0">
              <a:buNone/>
            </a:pPr>
            <a:r>
              <a:rPr lang="en-US" sz="1100" dirty="0">
                <a:solidFill>
                  <a:srgbClr val="56478F"/>
                </a:solidFill>
              </a:rPr>
              <a:t>Ethics guidance · participant costs</a:t>
            </a:r>
            <a:endParaRPr lang="en-US" sz="1100" dirty="0"/>
          </a:p>
        </p:txBody>
      </p:sp>
      <p:sp>
        <p:nvSpPr>
          <p:cNvPr id="15" name="Stair 3"/>
          <p:cNvSpPr/>
          <p:nvPr/>
        </p:nvSpPr>
        <p:spPr>
          <a:xfrm>
            <a:off x="6126480" y="2788920"/>
            <a:ext cx="2697480" cy="3337560"/>
          </a:xfrm>
          <a:prstGeom prst="roundRect">
            <a:avLst>
              <a:gd name="adj" fmla="val 4068"/>
            </a:avLst>
          </a:prstGeom>
          <a:solidFill>
            <a:srgbClr val="8E7CD6"/>
          </a:solidFill>
          <a:ln/>
        </p:spPr>
      </p:sp>
      <p:sp>
        <p:nvSpPr>
          <p:cNvPr id="16" name="Stair 3 label"/>
          <p:cNvSpPr txBox="1"/>
          <p:nvPr/>
        </p:nvSpPr>
        <p:spPr>
          <a:xfrm>
            <a:off x="6309360" y="2926080"/>
            <a:ext cx="2331720" cy="256032"/>
          </a:xfrm>
          <a:prstGeom prst="rect">
            <a:avLst/>
          </a:prstGeom>
          <a:noFill/>
          <a:ln/>
        </p:spPr>
        <p:txBody>
          <a:bodyPr wrap="square" lIns="0" tIns="0" rIns="0" bIns="0" rtlCol="0" anchor="t"/>
          <a:lstStyle/>
          <a:p>
            <a:pPr indent="0" marL="0">
              <a:buNone/>
            </a:pPr>
            <a:r>
              <a:rPr lang="en-US" sz="1100" b="1" dirty="0">
                <a:solidFill>
                  <a:srgbClr val="ECE7F8"/>
                </a:solidFill>
              </a:rPr>
              <a:t>STAGE 3  ·  Q2 2027</a:t>
            </a:r>
            <a:endParaRPr lang="en-US" sz="1100" dirty="0"/>
          </a:p>
        </p:txBody>
      </p:sp>
      <p:sp>
        <p:nvSpPr>
          <p:cNvPr id="17" name="Stair 3 title"/>
          <p:cNvSpPr txBox="1"/>
          <p:nvPr/>
        </p:nvSpPr>
        <p:spPr>
          <a:xfrm>
            <a:off x="6309360" y="3200400"/>
            <a:ext cx="2331720" cy="384048"/>
          </a:xfrm>
          <a:prstGeom prst="rect">
            <a:avLst/>
          </a:prstGeom>
          <a:noFill/>
          <a:ln/>
        </p:spPr>
        <p:txBody>
          <a:bodyPr wrap="square" lIns="0" tIns="0" rIns="0" bIns="0" rtlCol="0" anchor="t"/>
          <a:lstStyle/>
          <a:p>
            <a:pPr indent="0" marL="0">
              <a:buNone/>
            </a:pPr>
            <a:r>
              <a:rPr lang="en-US" sz="2000" b="1" dirty="0">
                <a:solidFill>
                  <a:schemeClr val="bg1"/>
                </a:solidFill>
              </a:rPr>
              <a:t>Distribute</a:t>
            </a:r>
            <a:endParaRPr lang="en-US" sz="2000" dirty="0"/>
          </a:p>
        </p:txBody>
      </p:sp>
      <p:sp>
        <p:nvSpPr>
          <p:cNvPr id="18" name="Stair 3 activity"/>
          <p:cNvSpPr txBox="1"/>
          <p:nvPr/>
        </p:nvSpPr>
        <p:spPr>
          <a:xfrm>
            <a:off x="6309360" y="3611880"/>
            <a:ext cx="2331720" cy="566928"/>
          </a:xfrm>
          <a:prstGeom prst="rect">
            <a:avLst/>
          </a:prstGeom>
          <a:noFill/>
          <a:ln/>
        </p:spPr>
        <p:txBody>
          <a:bodyPr wrap="square" lIns="0" tIns="0" rIns="0" bIns="0" rtlCol="0" anchor="t"/>
          <a:lstStyle/>
          <a:p>
            <a:pPr indent="0" marL="0">
              <a:buNone/>
            </a:pPr>
            <a:r>
              <a:rPr lang="en-US" sz="1200" dirty="0">
                <a:solidFill>
                  <a:schemeClr val="bg1"/>
                </a:solidFill>
              </a:rPr>
              <a:t>Trials with NUS wellbeing services and BFRB communities</a:t>
            </a:r>
            <a:endParaRPr lang="en-US" sz="1200" dirty="0"/>
          </a:p>
        </p:txBody>
      </p:sp>
      <p:sp>
        <p:nvSpPr>
          <p:cNvPr id="19" name="Stair 3 metric"/>
          <p:cNvSpPr txBox="1"/>
          <p:nvPr/>
        </p:nvSpPr>
        <p:spPr>
          <a:xfrm>
            <a:off x="6309360" y="5422392"/>
            <a:ext cx="2331720" cy="457200"/>
          </a:xfrm>
          <a:prstGeom prst="rect">
            <a:avLst/>
          </a:prstGeom>
          <a:noFill/>
          <a:ln/>
        </p:spPr>
        <p:txBody>
          <a:bodyPr wrap="square" lIns="0" tIns="0" rIns="0" bIns="0" rtlCol="0" anchor="b"/>
          <a:lstStyle/>
          <a:p>
            <a:pPr indent="0" marL="0">
              <a:buNone/>
            </a:pPr>
            <a:r>
              <a:rPr lang="en-US" sz="1100" b="1" i="1" dirty="0">
                <a:solidFill>
                  <a:schemeClr val="bg1"/>
                </a:solidFill>
              </a:rPr>
              <a:t>Measure: </a:t>
            </a:r>
            <a:pPr indent="0" marL="0">
              <a:buNone/>
            </a:pPr>
            <a:r>
              <a:rPr lang="en-US" sz="1100" i="1" dirty="0">
                <a:solidFill>
                  <a:schemeClr val="bg1"/>
                </a:solidFill>
              </a:rPr>
              <a:t>14-day retention · partner interest</a:t>
            </a:r>
            <a:endParaRPr lang="en-US" sz="1100" dirty="0"/>
          </a:p>
        </p:txBody>
      </p:sp>
      <p:sp>
        <p:nvSpPr>
          <p:cNvPr id="20" name="Stair 3 nusc"/>
          <p:cNvSpPr txBox="1"/>
          <p:nvPr/>
        </p:nvSpPr>
        <p:spPr>
          <a:xfrm>
            <a:off x="6309360" y="4251960"/>
            <a:ext cx="2331720" cy="411480"/>
          </a:xfrm>
          <a:prstGeom prst="rect">
            <a:avLst/>
          </a:prstGeom>
          <a:noFill/>
          <a:ln/>
        </p:spPr>
        <p:txBody>
          <a:bodyPr wrap="square" lIns="0" tIns="0" rIns="0" bIns="0" rtlCol="0" anchor="t"/>
          <a:lstStyle/>
          <a:p>
            <a:pPr indent="0" marL="0">
              <a:buNone/>
            </a:pPr>
            <a:r>
              <a:rPr lang="en-US" sz="1100" b="1" dirty="0">
                <a:solidFill>
                  <a:srgbClr val="ECE7F8"/>
                </a:solidFill>
              </a:rPr>
              <a:t>NUSC: </a:t>
            </a:r>
            <a:pPr indent="0" marL="0">
              <a:buNone/>
            </a:pPr>
            <a:r>
              <a:rPr lang="en-US" sz="1100" dirty="0">
                <a:solidFill>
                  <a:srgbClr val="ECE7F8"/>
                </a:solidFill>
              </a:rPr>
              <a:t>Introductions · business mentorship</a:t>
            </a:r>
            <a:endParaRPr lang="en-US" sz="1100" dirty="0"/>
          </a:p>
        </p:txBody>
      </p:sp>
      <p:sp>
        <p:nvSpPr>
          <p:cNvPr id="21" name="Stair 4"/>
          <p:cNvSpPr/>
          <p:nvPr/>
        </p:nvSpPr>
        <p:spPr>
          <a:xfrm>
            <a:off x="8915400" y="2423160"/>
            <a:ext cx="2697480" cy="3703320"/>
          </a:xfrm>
          <a:prstGeom prst="roundRect">
            <a:avLst>
              <a:gd name="adj" fmla="val 4068"/>
            </a:avLst>
          </a:prstGeom>
          <a:solidFill>
            <a:srgbClr val="56478F"/>
          </a:solidFill>
          <a:ln/>
        </p:spPr>
      </p:sp>
      <p:sp>
        <p:nvSpPr>
          <p:cNvPr id="22" name="Stair 4 label"/>
          <p:cNvSpPr txBox="1"/>
          <p:nvPr/>
        </p:nvSpPr>
        <p:spPr>
          <a:xfrm>
            <a:off x="9098280" y="2560320"/>
            <a:ext cx="2331720" cy="256032"/>
          </a:xfrm>
          <a:prstGeom prst="rect">
            <a:avLst/>
          </a:prstGeom>
          <a:noFill/>
          <a:ln/>
        </p:spPr>
        <p:txBody>
          <a:bodyPr wrap="square" lIns="0" tIns="0" rIns="0" bIns="0" rtlCol="0" anchor="t"/>
          <a:lstStyle/>
          <a:p>
            <a:pPr indent="0" marL="0">
              <a:buNone/>
            </a:pPr>
            <a:r>
              <a:rPr lang="en-US" sz="1100" b="1" dirty="0">
                <a:solidFill>
                  <a:srgbClr val="ECE7F8"/>
                </a:solidFill>
              </a:rPr>
              <a:t>STAGE 4  ·  H2 2027 →</a:t>
            </a:r>
            <a:endParaRPr lang="en-US" sz="1100" dirty="0"/>
          </a:p>
        </p:txBody>
      </p:sp>
      <p:sp>
        <p:nvSpPr>
          <p:cNvPr id="23" name="Stair 4 title"/>
          <p:cNvSpPr txBox="1"/>
          <p:nvPr/>
        </p:nvSpPr>
        <p:spPr>
          <a:xfrm>
            <a:off x="9098280" y="2834640"/>
            <a:ext cx="2331720" cy="384048"/>
          </a:xfrm>
          <a:prstGeom prst="rect">
            <a:avLst/>
          </a:prstGeom>
          <a:noFill/>
          <a:ln/>
        </p:spPr>
        <p:txBody>
          <a:bodyPr wrap="square" lIns="0" tIns="0" rIns="0" bIns="0" rtlCol="0" anchor="t"/>
          <a:lstStyle/>
          <a:p>
            <a:pPr indent="0" marL="0">
              <a:buNone/>
            </a:pPr>
            <a:r>
              <a:rPr lang="en-US" sz="2000" b="1" dirty="0">
                <a:solidFill>
                  <a:schemeClr val="bg1"/>
                </a:solidFill>
              </a:rPr>
              <a:t>Personalise</a:t>
            </a:r>
            <a:endParaRPr lang="en-US" sz="2000" dirty="0"/>
          </a:p>
        </p:txBody>
      </p:sp>
      <p:sp>
        <p:nvSpPr>
          <p:cNvPr id="24" name="Stair 4 activity"/>
          <p:cNvSpPr txBox="1"/>
          <p:nvPr/>
        </p:nvSpPr>
        <p:spPr>
          <a:xfrm>
            <a:off x="9098280" y="3246120"/>
            <a:ext cx="2331720" cy="566928"/>
          </a:xfrm>
          <a:prstGeom prst="rect">
            <a:avLst/>
          </a:prstGeom>
          <a:noFill/>
          <a:ln/>
        </p:spPr>
        <p:txBody>
          <a:bodyPr wrap="square" lIns="0" tIns="0" rIns="0" bIns="0" rtlCol="0" anchor="t"/>
          <a:lstStyle/>
          <a:p>
            <a:pPr indent="0" marL="0">
              <a:buNone/>
            </a:pPr>
            <a:r>
              <a:rPr lang="en-US" sz="1200" dirty="0">
                <a:solidFill>
                  <a:schemeClr val="bg1"/>
                </a:solidFill>
              </a:rPr>
              <a:t>Practitioner-informed features; consent-based sharing</a:t>
            </a:r>
            <a:endParaRPr lang="en-US" sz="1200" dirty="0"/>
          </a:p>
        </p:txBody>
      </p:sp>
      <p:sp>
        <p:nvSpPr>
          <p:cNvPr id="25" name="Stair 4 metric"/>
          <p:cNvSpPr txBox="1"/>
          <p:nvPr/>
        </p:nvSpPr>
        <p:spPr>
          <a:xfrm>
            <a:off x="9098280" y="5422392"/>
            <a:ext cx="2331720" cy="457200"/>
          </a:xfrm>
          <a:prstGeom prst="rect">
            <a:avLst/>
          </a:prstGeom>
          <a:noFill/>
          <a:ln/>
        </p:spPr>
        <p:txBody>
          <a:bodyPr wrap="square" lIns="0" tIns="0" rIns="0" bIns="0" rtlCol="0" anchor="b"/>
          <a:lstStyle/>
          <a:p>
            <a:pPr indent="0" marL="0">
              <a:buNone/>
            </a:pPr>
            <a:r>
              <a:rPr lang="en-US" sz="1100" b="1" i="1" dirty="0">
                <a:solidFill>
                  <a:schemeClr val="bg1"/>
                </a:solidFill>
              </a:rPr>
              <a:t>Measure: </a:t>
            </a:r>
            <a:pPr indent="0" marL="0">
              <a:buNone/>
            </a:pPr>
            <a:r>
              <a:rPr lang="en-US" sz="1100" i="1" dirty="0">
                <a:solidFill>
                  <a:schemeClr val="bg1"/>
                </a:solidFill>
              </a:rPr>
              <a:t>Partner uptake · zero privacy incidents</a:t>
            </a:r>
            <a:endParaRPr lang="en-US" sz="1100" dirty="0"/>
          </a:p>
        </p:txBody>
      </p:sp>
      <p:sp>
        <p:nvSpPr>
          <p:cNvPr id="26" name="Stair 4 nusc"/>
          <p:cNvSpPr txBox="1"/>
          <p:nvPr/>
        </p:nvSpPr>
        <p:spPr>
          <a:xfrm>
            <a:off x="9098280" y="3886200"/>
            <a:ext cx="2331720" cy="411480"/>
          </a:xfrm>
          <a:prstGeom prst="rect">
            <a:avLst/>
          </a:prstGeom>
          <a:noFill/>
          <a:ln/>
        </p:spPr>
        <p:txBody>
          <a:bodyPr wrap="square" lIns="0" tIns="0" rIns="0" bIns="0" rtlCol="0" anchor="t"/>
          <a:lstStyle/>
          <a:p>
            <a:pPr indent="0" marL="0">
              <a:buNone/>
            </a:pPr>
            <a:r>
              <a:rPr lang="en-US" sz="1100" b="1" dirty="0">
                <a:solidFill>
                  <a:srgbClr val="ECE7F8"/>
                </a:solidFill>
              </a:rPr>
              <a:t>NUSC: </a:t>
            </a:r>
            <a:pPr indent="0" marL="0">
              <a:buNone/>
            </a:pPr>
            <a:r>
              <a:rPr lang="en-US" sz="1100" dirty="0">
                <a:solidFill>
                  <a:srgbClr val="ECE7F8"/>
                </a:solidFill>
              </a:rPr>
              <a:t>Clinical mentorship · funding</a:t>
            </a:r>
            <a:endParaRPr lang="en-US" sz="1100" dirty="0"/>
          </a:p>
        </p:txBody>
      </p:sp>
      <p:pic>
        <p:nvPicPr>
          <p:cNvPr id="27" name="Mochi" descr="Mochi standing on the first step">    </p:cNvPr>
          <p:cNvPicPr>
            <a:picLocks noChangeAspect="1"/>
          </p:cNvPicPr>
          <p:nvPr/>
        </p:nvPicPr>
        <p:blipFill>
          <a:blip r:embed="rId1"/>
          <a:stretch>
            <a:fillRect/>
          </a:stretch>
        </p:blipFill>
        <p:spPr>
          <a:xfrm>
            <a:off x="1417320" y="2560320"/>
            <a:ext cx="960120" cy="960120"/>
          </a:xfrm>
          <a:prstGeom prst="rect">
            <a:avLst/>
          </a:prstGeom>
        </p:spPr>
      </p:pic>
      <p:sp>
        <p:nvSpPr>
          <p:cNvPr id="28" name="Impact flag circle"/>
          <p:cNvSpPr/>
          <p:nvPr/>
        </p:nvSpPr>
        <p:spPr>
          <a:xfrm>
            <a:off x="9875520" y="1508760"/>
            <a:ext cx="777240" cy="777240"/>
          </a:xfrm>
          <a:prstGeom prst="ellipse">
            <a:avLst/>
          </a:prstGeom>
          <a:solidFill>
            <a:srgbClr val="F6C453"/>
          </a:solidFill>
          <a:ln/>
        </p:spPr>
      </p:sp>
      <p:pic>
        <p:nvPicPr>
          <p:cNvPr id="29" name="Impact flag icon" descr="Impact flag">    </p:cNvPr>
          <p:cNvPicPr>
            <a:picLocks noChangeAspect="1"/>
          </p:cNvPicPr>
          <p:nvPr/>
        </p:nvPicPr>
        <p:blipFill>
          <a:blip r:embed="rId2"/>
          <a:stretch>
            <a:fillRect/>
          </a:stretch>
        </p:blipFill>
        <p:spPr>
          <a:xfrm>
            <a:off x="10038740" y="1671980"/>
            <a:ext cx="450799" cy="450799"/>
          </a:xfrm>
          <a:prstGeom prst="rect">
            <a:avLst/>
          </a:prstGeom>
        </p:spPr>
      </p:pic>
      <p:sp>
        <p:nvSpPr>
          <p:cNvPr id="30" name="Footnote"/>
          <p:cNvSpPr txBox="1"/>
          <p:nvPr/>
        </p:nvSpPr>
        <p:spPr>
          <a:xfrm>
            <a:off x="548640" y="6172200"/>
            <a:ext cx="8229600" cy="228600"/>
          </a:xfrm>
          <a:prstGeom prst="rect">
            <a:avLst/>
          </a:prstGeom>
          <a:noFill/>
          <a:ln/>
        </p:spPr>
        <p:txBody>
          <a:bodyPr wrap="square" lIns="0" tIns="0" rIns="0" bIns="0" rtlCol="0" anchor="t"/>
          <a:lstStyle/>
          <a:p>
            <a:pPr indent="0" marL="0">
              <a:buNone/>
            </a:pPr>
            <a:r>
              <a:rPr lang="en-US" sz="1100" i="1" dirty="0">
                <a:solidFill>
                  <a:schemeClr val="accent6"/>
                </a:solidFill>
              </a:rPr>
              <a:t>Engagement is not clinical effectiveness: we measure them separately. Dates are targets.</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A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Headline"/>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bg1"/>
                </a:solidFill>
                <a:latin typeface="+mj-lt" pitchFamily="34" charset="0"/>
                <a:ea typeface="+mj-lt" pitchFamily="34" charset="-122"/>
                <a:cs typeface="+mj-lt" pitchFamily="34" charset="-120"/>
              </a:rPr>
              <a:t>Let’s ease suffering, one quiet moment at a time</a:t>
            </a:r>
            <a:endParaRPr lang="en-US" sz="3600" dirty="0"/>
          </a:p>
        </p:txBody>
      </p:sp>
      <p:sp>
        <p:nvSpPr>
          <p:cNvPr id="3" name="Founder 1 card"/>
          <p:cNvSpPr/>
          <p:nvPr/>
        </p:nvSpPr>
        <p:spPr>
          <a:xfrm>
            <a:off x="548640" y="1554480"/>
            <a:ext cx="5120640" cy="1207008"/>
          </a:xfrm>
          <a:prstGeom prst="roundRect">
            <a:avLst>
              <a:gd name="adj" fmla="val 13636"/>
            </a:avLst>
          </a:prstGeom>
          <a:solidFill>
            <a:srgbClr val="363245"/>
          </a:solidFill>
          <a:ln/>
        </p:spPr>
      </p:sp>
      <p:sp>
        <p:nvSpPr>
          <p:cNvPr id="4" name="Founder 1 photo placeholder"/>
          <p:cNvSpPr/>
          <p:nvPr/>
        </p:nvSpPr>
        <p:spPr>
          <a:xfrm>
            <a:off x="777240" y="1737360"/>
            <a:ext cx="841248" cy="841248"/>
          </a:xfrm>
          <a:prstGeom prst="ellipse">
            <a:avLst/>
          </a:prstGeom>
          <a:solidFill>
            <a:schemeClr val="accent1"/>
          </a:solidFill>
          <a:ln/>
        </p:spPr>
      </p:sp>
      <p:sp>
        <p:nvSpPr>
          <p:cNvPr id="5" name="Founder 1 photo label"/>
          <p:cNvSpPr txBox="1"/>
          <p:nvPr/>
        </p:nvSpPr>
        <p:spPr>
          <a:xfrm>
            <a:off x="777240" y="1737360"/>
            <a:ext cx="841248" cy="841248"/>
          </a:xfrm>
          <a:prstGeom prst="rect">
            <a:avLst/>
          </a:prstGeom>
          <a:noFill/>
          <a:ln/>
        </p:spPr>
        <p:txBody>
          <a:bodyPr wrap="square" lIns="0" tIns="0" rIns="0" bIns="0" rtlCol="0" anchor="ctr"/>
          <a:lstStyle/>
          <a:p>
            <a:pPr algn="ctr" indent="0" marL="0">
              <a:buNone/>
            </a:pPr>
            <a:r>
              <a:rPr lang="en-US" sz="1100" dirty="0">
                <a:solidFill>
                  <a:schemeClr val="accent4"/>
                </a:solidFill>
              </a:rPr>
              <a:t>photo</a:t>
            </a:r>
            <a:endParaRPr lang="en-US" sz="1100" dirty="0"/>
          </a:p>
        </p:txBody>
      </p:sp>
      <p:sp>
        <p:nvSpPr>
          <p:cNvPr id="6" name="Founder 1 text"/>
          <p:cNvSpPr txBox="1"/>
          <p:nvPr/>
        </p:nvSpPr>
        <p:spPr>
          <a:xfrm>
            <a:off x="1828800" y="1737360"/>
            <a:ext cx="3703320" cy="868680"/>
          </a:xfrm>
          <a:prstGeom prst="rect">
            <a:avLst/>
          </a:prstGeom>
          <a:noFill/>
          <a:ln/>
        </p:spPr>
        <p:txBody>
          <a:bodyPr wrap="square" lIns="0" tIns="0" rIns="0" bIns="0" rtlCol="0" anchor="t"/>
          <a:lstStyle/>
          <a:p>
            <a:pPr indent="0" marL="0">
              <a:buNone/>
            </a:pPr>
            <a:r>
              <a:rPr lang="en-US" sz="1800" b="1" dirty="0">
                <a:solidFill>
                  <a:schemeClr val="bg1"/>
                </a:solidFill>
              </a:rPr>
              <a:t>[Founder 1 name]</a:t>
            </a:r>
            <a:endParaRPr lang="en-US" sz="1800" dirty="0"/>
          </a:p>
          <a:p>
            <a:pPr indent="0" marL="0">
              <a:buNone/>
            </a:pPr>
            <a:r>
              <a:rPr lang="en-US" sz="1400" dirty="0">
                <a:solidFill>
                  <a:srgbClr val="C9BFF3"/>
                </a:solidFill>
              </a:rPr>
              <a:t>Robotics &amp; engineering: built the computer-vision pipeline</a:t>
            </a:r>
            <a:endParaRPr lang="en-US" sz="1800" dirty="0"/>
          </a:p>
        </p:txBody>
      </p:sp>
      <p:sp>
        <p:nvSpPr>
          <p:cNvPr id="7" name="Founder 2 card"/>
          <p:cNvSpPr/>
          <p:nvPr/>
        </p:nvSpPr>
        <p:spPr>
          <a:xfrm>
            <a:off x="548640" y="2926080"/>
            <a:ext cx="5120640" cy="1207008"/>
          </a:xfrm>
          <a:prstGeom prst="roundRect">
            <a:avLst>
              <a:gd name="adj" fmla="val 13636"/>
            </a:avLst>
          </a:prstGeom>
          <a:solidFill>
            <a:srgbClr val="363245"/>
          </a:solidFill>
          <a:ln/>
        </p:spPr>
      </p:sp>
      <p:sp>
        <p:nvSpPr>
          <p:cNvPr id="8" name="Founder 2 photo placeholder"/>
          <p:cNvSpPr/>
          <p:nvPr/>
        </p:nvSpPr>
        <p:spPr>
          <a:xfrm>
            <a:off x="777240" y="3108960"/>
            <a:ext cx="841248" cy="841248"/>
          </a:xfrm>
          <a:prstGeom prst="ellipse">
            <a:avLst/>
          </a:prstGeom>
          <a:solidFill>
            <a:schemeClr val="accent1"/>
          </a:solidFill>
          <a:ln/>
        </p:spPr>
      </p:sp>
      <p:sp>
        <p:nvSpPr>
          <p:cNvPr id="9" name="Founder 2 photo label"/>
          <p:cNvSpPr txBox="1"/>
          <p:nvPr/>
        </p:nvSpPr>
        <p:spPr>
          <a:xfrm>
            <a:off x="777240" y="3108960"/>
            <a:ext cx="841248" cy="841248"/>
          </a:xfrm>
          <a:prstGeom prst="rect">
            <a:avLst/>
          </a:prstGeom>
          <a:noFill/>
          <a:ln/>
        </p:spPr>
        <p:txBody>
          <a:bodyPr wrap="square" lIns="0" tIns="0" rIns="0" bIns="0" rtlCol="0" anchor="ctr"/>
          <a:lstStyle/>
          <a:p>
            <a:pPr algn="ctr" indent="0" marL="0">
              <a:buNone/>
            </a:pPr>
            <a:r>
              <a:rPr lang="en-US" sz="1100" dirty="0">
                <a:solidFill>
                  <a:schemeClr val="accent4"/>
                </a:solidFill>
              </a:rPr>
              <a:t>photo</a:t>
            </a:r>
            <a:endParaRPr lang="en-US" sz="1100" dirty="0"/>
          </a:p>
        </p:txBody>
      </p:sp>
      <p:sp>
        <p:nvSpPr>
          <p:cNvPr id="10" name="Founder 2 text"/>
          <p:cNvSpPr txBox="1"/>
          <p:nvPr/>
        </p:nvSpPr>
        <p:spPr>
          <a:xfrm>
            <a:off x="1828800" y="3108960"/>
            <a:ext cx="3703320" cy="868680"/>
          </a:xfrm>
          <a:prstGeom prst="rect">
            <a:avLst/>
          </a:prstGeom>
          <a:noFill/>
          <a:ln/>
        </p:spPr>
        <p:txBody>
          <a:bodyPr wrap="square" lIns="0" tIns="0" rIns="0" bIns="0" rtlCol="0" anchor="t"/>
          <a:lstStyle/>
          <a:p>
            <a:pPr indent="0" marL="0">
              <a:buNone/>
            </a:pPr>
            <a:r>
              <a:rPr lang="en-US" sz="1800" b="1" dirty="0">
                <a:solidFill>
                  <a:schemeClr val="bg1"/>
                </a:solidFill>
              </a:rPr>
              <a:t>[Founder 2 name]</a:t>
            </a:r>
            <a:endParaRPr lang="en-US" sz="1800" dirty="0"/>
          </a:p>
          <a:p>
            <a:pPr indent="0" marL="0">
              <a:buNone/>
            </a:pPr>
            <a:r>
              <a:rPr lang="en-US" sz="1400" dirty="0">
                <a:solidFill>
                  <a:srgbClr val="C9BFF3"/>
                </a:solidFill>
              </a:rPr>
              <a:t>Statistics: designed the evaluation and randomised pilot</a:t>
            </a:r>
            <a:endParaRPr lang="en-US" sz="1800" dirty="0"/>
          </a:p>
        </p:txBody>
      </p:sp>
      <p:sp>
        <p:nvSpPr>
          <p:cNvPr id="11" name="Grit line"/>
          <p:cNvSpPr txBox="1"/>
          <p:nvPr/>
        </p:nvSpPr>
        <p:spPr>
          <a:xfrm>
            <a:off x="548640" y="4389120"/>
            <a:ext cx="5120640" cy="640080"/>
          </a:xfrm>
          <a:prstGeom prst="rect">
            <a:avLst/>
          </a:prstGeom>
          <a:noFill/>
          <a:ln/>
        </p:spPr>
        <p:txBody>
          <a:bodyPr wrap="square" lIns="0" tIns="0" rIns="0" bIns="0" rtlCol="0" anchor="t"/>
          <a:lstStyle/>
          <a:p>
            <a:pPr indent="0" marL="0">
              <a:buNone/>
            </a:pPr>
            <a:r>
              <a:rPr lang="en-US" sz="1400" i="1" dirty="0">
                <a:solidFill>
                  <a:schemeClr val="accent4"/>
                </a:solidFill>
              </a:rPr>
              <a:t>We kept building through hackathon setbacks. When our first user test failed, we fixed it within days.</a:t>
            </a:r>
            <a:endParaRPr lang="en-US" sz="1400" dirty="0"/>
          </a:p>
        </p:txBody>
      </p:sp>
      <p:sp>
        <p:nvSpPr>
          <p:cNvPr id="12" name="Ask head"/>
          <p:cNvSpPr txBox="1"/>
          <p:nvPr/>
        </p:nvSpPr>
        <p:spPr>
          <a:xfrm>
            <a:off x="6217920" y="1554480"/>
            <a:ext cx="5394960" cy="365760"/>
          </a:xfrm>
          <a:prstGeom prst="rect">
            <a:avLst/>
          </a:prstGeom>
          <a:noFill/>
          <a:ln/>
        </p:spPr>
        <p:txBody>
          <a:bodyPr wrap="square" lIns="0" tIns="0" rIns="0" bIns="0" rtlCol="0" anchor="t"/>
          <a:lstStyle/>
          <a:p>
            <a:pPr indent="0" marL="0">
              <a:buNone/>
            </a:pPr>
            <a:r>
              <a:rPr lang="en-US" sz="1800" b="1" dirty="0">
                <a:solidFill>
                  <a:schemeClr val="accent3"/>
                </a:solidFill>
              </a:rPr>
              <a:t>Why incubation, not just more time</a:t>
            </a:r>
            <a:endParaRPr lang="en-US" sz="1800" dirty="0"/>
          </a:p>
        </p:txBody>
      </p:sp>
      <p:sp>
        <p:nvSpPr>
          <p:cNvPr id="13" name="Ask body"/>
          <p:cNvSpPr txBox="1"/>
          <p:nvPr/>
        </p:nvSpPr>
        <p:spPr>
          <a:xfrm>
            <a:off x="6217920" y="1965960"/>
            <a:ext cx="5394960" cy="731520"/>
          </a:xfrm>
          <a:prstGeom prst="rect">
            <a:avLst/>
          </a:prstGeom>
          <a:noFill/>
          <a:ln/>
        </p:spPr>
        <p:txBody>
          <a:bodyPr wrap="square" lIns="0" tIns="0" rIns="0" bIns="0" rtlCol="0" anchor="t"/>
          <a:lstStyle/>
          <a:p>
            <a:pPr indent="0" marL="0">
              <a:buNone/>
            </a:pPr>
            <a:r>
              <a:rPr lang="en-US" sz="1400" dirty="0">
                <a:solidFill>
                  <a:schemeClr val="bg1"/>
                </a:solidFill>
              </a:rPr>
              <a:t>We can build the software. We can’t yet run an ethical study, reach institutional buyers or form clinical partnerships alone.</a:t>
            </a:r>
            <a:endParaRPr lang="en-US" sz="1400" dirty="0"/>
          </a:p>
        </p:txBody>
      </p:sp>
      <p:sp>
        <p:nvSpPr>
          <p:cNvPr id="14" name="Ask 1 circle"/>
          <p:cNvSpPr/>
          <p:nvPr/>
        </p:nvSpPr>
        <p:spPr>
          <a:xfrm>
            <a:off x="6217920" y="2834640"/>
            <a:ext cx="347472" cy="347472"/>
          </a:xfrm>
          <a:prstGeom prst="ellipse">
            <a:avLst/>
          </a:prstGeom>
          <a:solidFill>
            <a:srgbClr val="6A5AA8"/>
          </a:solidFill>
          <a:ln/>
        </p:spPr>
      </p:sp>
      <p:pic>
        <p:nvPicPr>
          <p:cNvPr id="15" name="Ask 1 icon" descr="Ask 1">    </p:cNvPr>
          <p:cNvPicPr>
            <a:picLocks noChangeAspect="1"/>
          </p:cNvPicPr>
          <p:nvPr/>
        </p:nvPicPr>
        <p:blipFill>
          <a:blip r:embed="rId1"/>
          <a:stretch>
            <a:fillRect/>
          </a:stretch>
        </p:blipFill>
        <p:spPr>
          <a:xfrm>
            <a:off x="6290889" y="2907609"/>
            <a:ext cx="201534" cy="201534"/>
          </a:xfrm>
          <a:prstGeom prst="rect">
            <a:avLst/>
          </a:prstGeom>
        </p:spPr>
      </p:pic>
      <p:sp>
        <p:nvSpPr>
          <p:cNvPr id="16" name="Ask 1 text"/>
          <p:cNvSpPr txBox="1"/>
          <p:nvPr/>
        </p:nvSpPr>
        <p:spPr>
          <a:xfrm>
            <a:off x="6720840" y="2834640"/>
            <a:ext cx="4846320" cy="347472"/>
          </a:xfrm>
          <a:prstGeom prst="rect">
            <a:avLst/>
          </a:prstGeom>
          <a:noFill/>
          <a:ln/>
        </p:spPr>
        <p:txBody>
          <a:bodyPr wrap="square" lIns="0" tIns="0" rIns="0" bIns="0" rtlCol="0" anchor="ctr"/>
          <a:lstStyle/>
          <a:p>
            <a:pPr indent="0" marL="0">
              <a:buNone/>
            </a:pPr>
            <a:r>
              <a:rPr lang="en-US" sz="1500" dirty="0">
                <a:solidFill>
                  <a:schemeClr val="bg1"/>
                </a:solidFill>
              </a:rPr>
              <a:t>Clinical &amp; research mentorship</a:t>
            </a:r>
            <a:endParaRPr lang="en-US" sz="1500" dirty="0"/>
          </a:p>
        </p:txBody>
      </p:sp>
      <p:sp>
        <p:nvSpPr>
          <p:cNvPr id="17" name="Ask 2 circle"/>
          <p:cNvSpPr/>
          <p:nvPr/>
        </p:nvSpPr>
        <p:spPr>
          <a:xfrm>
            <a:off x="6217920" y="3291840"/>
            <a:ext cx="347472" cy="347472"/>
          </a:xfrm>
          <a:prstGeom prst="ellipse">
            <a:avLst/>
          </a:prstGeom>
          <a:solidFill>
            <a:srgbClr val="6A5AA8"/>
          </a:solidFill>
          <a:ln/>
        </p:spPr>
      </p:sp>
      <p:pic>
        <p:nvPicPr>
          <p:cNvPr id="18" name="Ask 2 icon" descr="Ask 2">    </p:cNvPr>
          <p:cNvPicPr>
            <a:picLocks noChangeAspect="1"/>
          </p:cNvPicPr>
          <p:nvPr/>
        </p:nvPicPr>
        <p:blipFill>
          <a:blip r:embed="rId2"/>
          <a:stretch>
            <a:fillRect/>
          </a:stretch>
        </p:blipFill>
        <p:spPr>
          <a:xfrm>
            <a:off x="6290889" y="3364809"/>
            <a:ext cx="201534" cy="201534"/>
          </a:xfrm>
          <a:prstGeom prst="rect">
            <a:avLst/>
          </a:prstGeom>
        </p:spPr>
      </p:pic>
      <p:sp>
        <p:nvSpPr>
          <p:cNvPr id="19" name="Ask 2 text"/>
          <p:cNvSpPr txBox="1"/>
          <p:nvPr/>
        </p:nvSpPr>
        <p:spPr>
          <a:xfrm>
            <a:off x="6720840" y="3291840"/>
            <a:ext cx="4846320" cy="347472"/>
          </a:xfrm>
          <a:prstGeom prst="rect">
            <a:avLst/>
          </a:prstGeom>
          <a:noFill/>
          <a:ln/>
        </p:spPr>
        <p:txBody>
          <a:bodyPr wrap="square" lIns="0" tIns="0" rIns="0" bIns="0" rtlCol="0" anchor="ctr"/>
          <a:lstStyle/>
          <a:p>
            <a:pPr indent="0" marL="0">
              <a:buNone/>
            </a:pPr>
            <a:r>
              <a:rPr lang="en-US" sz="1500" dirty="0">
                <a:solidFill>
                  <a:schemeClr val="bg1"/>
                </a:solidFill>
              </a:rPr>
              <a:t>Ethics-reviewed pilot design</a:t>
            </a:r>
            <a:endParaRPr lang="en-US" sz="1500" dirty="0"/>
          </a:p>
        </p:txBody>
      </p:sp>
      <p:sp>
        <p:nvSpPr>
          <p:cNvPr id="20" name="Ask 3 circle"/>
          <p:cNvSpPr/>
          <p:nvPr/>
        </p:nvSpPr>
        <p:spPr>
          <a:xfrm>
            <a:off x="6217920" y="3749040"/>
            <a:ext cx="347472" cy="347472"/>
          </a:xfrm>
          <a:prstGeom prst="ellipse">
            <a:avLst/>
          </a:prstGeom>
          <a:solidFill>
            <a:srgbClr val="6A5AA8"/>
          </a:solidFill>
          <a:ln/>
        </p:spPr>
      </p:sp>
      <p:pic>
        <p:nvPicPr>
          <p:cNvPr id="21" name="Ask 3 icon" descr="Ask 3">    </p:cNvPr>
          <p:cNvPicPr>
            <a:picLocks noChangeAspect="1"/>
          </p:cNvPicPr>
          <p:nvPr/>
        </p:nvPicPr>
        <p:blipFill>
          <a:blip r:embed="rId3"/>
          <a:stretch>
            <a:fillRect/>
          </a:stretch>
        </p:blipFill>
        <p:spPr>
          <a:xfrm>
            <a:off x="6290889" y="3822009"/>
            <a:ext cx="201534" cy="201534"/>
          </a:xfrm>
          <a:prstGeom prst="rect">
            <a:avLst/>
          </a:prstGeom>
        </p:spPr>
      </p:pic>
      <p:sp>
        <p:nvSpPr>
          <p:cNvPr id="22" name="Ask 3 text"/>
          <p:cNvSpPr txBox="1"/>
          <p:nvPr/>
        </p:nvSpPr>
        <p:spPr>
          <a:xfrm>
            <a:off x="6720840" y="3749040"/>
            <a:ext cx="4846320" cy="347472"/>
          </a:xfrm>
          <a:prstGeom prst="rect">
            <a:avLst/>
          </a:prstGeom>
          <a:noFill/>
          <a:ln/>
        </p:spPr>
        <p:txBody>
          <a:bodyPr wrap="square" lIns="0" tIns="0" rIns="0" bIns="0" rtlCol="0" anchor="ctr"/>
          <a:lstStyle/>
          <a:p>
            <a:pPr indent="0" marL="0">
              <a:buNone/>
            </a:pPr>
            <a:r>
              <a:rPr lang="en-US" sz="1500" dirty="0">
                <a:solidFill>
                  <a:schemeClr val="bg1"/>
                </a:solidFill>
              </a:rPr>
              <a:t>Access to student users</a:t>
            </a:r>
            <a:endParaRPr lang="en-US" sz="1500" dirty="0"/>
          </a:p>
        </p:txBody>
      </p:sp>
      <p:sp>
        <p:nvSpPr>
          <p:cNvPr id="23" name="Ask 4 circle"/>
          <p:cNvSpPr/>
          <p:nvPr/>
        </p:nvSpPr>
        <p:spPr>
          <a:xfrm>
            <a:off x="6217920" y="4206240"/>
            <a:ext cx="347472" cy="347472"/>
          </a:xfrm>
          <a:prstGeom prst="ellipse">
            <a:avLst/>
          </a:prstGeom>
          <a:solidFill>
            <a:srgbClr val="6A5AA8"/>
          </a:solidFill>
          <a:ln/>
        </p:spPr>
      </p:sp>
      <p:pic>
        <p:nvPicPr>
          <p:cNvPr id="24" name="Ask 4 icon" descr="Ask 4">    </p:cNvPr>
          <p:cNvPicPr>
            <a:picLocks noChangeAspect="1"/>
          </p:cNvPicPr>
          <p:nvPr/>
        </p:nvPicPr>
        <p:blipFill>
          <a:blip r:embed="rId4"/>
          <a:stretch>
            <a:fillRect/>
          </a:stretch>
        </p:blipFill>
        <p:spPr>
          <a:xfrm>
            <a:off x="6290889" y="4279209"/>
            <a:ext cx="201534" cy="201534"/>
          </a:xfrm>
          <a:prstGeom prst="rect">
            <a:avLst/>
          </a:prstGeom>
        </p:spPr>
      </p:pic>
      <p:sp>
        <p:nvSpPr>
          <p:cNvPr id="25" name="Ask 4 text"/>
          <p:cNvSpPr txBox="1"/>
          <p:nvPr/>
        </p:nvSpPr>
        <p:spPr>
          <a:xfrm>
            <a:off x="6720840" y="4206240"/>
            <a:ext cx="4846320" cy="347472"/>
          </a:xfrm>
          <a:prstGeom prst="rect">
            <a:avLst/>
          </a:prstGeom>
          <a:noFill/>
          <a:ln/>
        </p:spPr>
        <p:txBody>
          <a:bodyPr wrap="square" lIns="0" tIns="0" rIns="0" bIns="0" rtlCol="0" anchor="ctr"/>
          <a:lstStyle/>
          <a:p>
            <a:pPr indent="0" marL="0">
              <a:buNone/>
            </a:pPr>
            <a:r>
              <a:rPr lang="en-US" sz="1500" dirty="0">
                <a:solidFill>
                  <a:schemeClr val="bg1"/>
                </a:solidFill>
              </a:rPr>
              <a:t>Business-model &amp; willingness-to-pay testing</a:t>
            </a:r>
            <a:endParaRPr lang="en-US" sz="1500" dirty="0"/>
          </a:p>
        </p:txBody>
      </p:sp>
      <p:sp>
        <p:nvSpPr>
          <p:cNvPr id="26" name="Ask 5 circle"/>
          <p:cNvSpPr/>
          <p:nvPr/>
        </p:nvSpPr>
        <p:spPr>
          <a:xfrm>
            <a:off x="6217920" y="4663440"/>
            <a:ext cx="347472" cy="347472"/>
          </a:xfrm>
          <a:prstGeom prst="ellipse">
            <a:avLst/>
          </a:prstGeom>
          <a:solidFill>
            <a:srgbClr val="6A5AA8"/>
          </a:solidFill>
          <a:ln/>
        </p:spPr>
      </p:sp>
      <p:pic>
        <p:nvPicPr>
          <p:cNvPr id="27" name="Ask 5 icon" descr="Ask 5">    </p:cNvPr>
          <p:cNvPicPr>
            <a:picLocks noChangeAspect="1"/>
          </p:cNvPicPr>
          <p:nvPr/>
        </p:nvPicPr>
        <p:blipFill>
          <a:blip r:embed="rId5"/>
          <a:stretch>
            <a:fillRect/>
          </a:stretch>
        </p:blipFill>
        <p:spPr>
          <a:xfrm>
            <a:off x="6290889" y="4736409"/>
            <a:ext cx="201534" cy="201534"/>
          </a:xfrm>
          <a:prstGeom prst="rect">
            <a:avLst/>
          </a:prstGeom>
        </p:spPr>
      </p:pic>
      <p:sp>
        <p:nvSpPr>
          <p:cNvPr id="28" name="Ask 5 text"/>
          <p:cNvSpPr txBox="1"/>
          <p:nvPr/>
        </p:nvSpPr>
        <p:spPr>
          <a:xfrm>
            <a:off x="6720840" y="4663440"/>
            <a:ext cx="4846320" cy="347472"/>
          </a:xfrm>
          <a:prstGeom prst="rect">
            <a:avLst/>
          </a:prstGeom>
          <a:noFill/>
          <a:ln/>
        </p:spPr>
        <p:txBody>
          <a:bodyPr wrap="square" lIns="0" tIns="0" rIns="0" bIns="0" rtlCol="0" anchor="ctr"/>
          <a:lstStyle/>
          <a:p>
            <a:pPr indent="0" marL="0">
              <a:buNone/>
            </a:pPr>
            <a:r>
              <a:rPr lang="en-US" sz="1500" dirty="0">
                <a:solidFill>
                  <a:schemeClr val="bg1"/>
                </a:solidFill>
              </a:rPr>
              <a:t>Introductions to wellbeing &amp; BFRB organisations</a:t>
            </a:r>
            <a:endParaRPr lang="en-US" sz="1500" dirty="0"/>
          </a:p>
        </p:txBody>
      </p:sp>
      <p:sp>
        <p:nvSpPr>
          <p:cNvPr id="29" name="Closing panel"/>
          <p:cNvSpPr/>
          <p:nvPr/>
        </p:nvSpPr>
        <p:spPr>
          <a:xfrm>
            <a:off x="548640" y="5257800"/>
            <a:ext cx="11064240" cy="960120"/>
          </a:xfrm>
          <a:prstGeom prst="roundRect">
            <a:avLst>
              <a:gd name="adj" fmla="val 19048"/>
            </a:avLst>
          </a:prstGeom>
          <a:solidFill>
            <a:srgbClr val="363245"/>
          </a:solidFill>
          <a:ln/>
        </p:spPr>
      </p:sp>
      <p:sp>
        <p:nvSpPr>
          <p:cNvPr id="30" name="Closing line"/>
          <p:cNvSpPr txBox="1"/>
          <p:nvPr/>
        </p:nvSpPr>
        <p:spPr>
          <a:xfrm>
            <a:off x="822960" y="5257800"/>
            <a:ext cx="9418320" cy="960120"/>
          </a:xfrm>
          <a:prstGeom prst="rect">
            <a:avLst/>
          </a:prstGeom>
          <a:noFill/>
          <a:ln/>
        </p:spPr>
        <p:txBody>
          <a:bodyPr wrap="square" lIns="0" tIns="0" rIns="0" bIns="0" rtlCol="0" anchor="ctr"/>
          <a:lstStyle/>
          <a:p>
            <a:pPr indent="0" marL="0">
              <a:buNone/>
            </a:pPr>
            <a:r>
              <a:rPr lang="en-US" sz="1900" i="1" dirty="0">
                <a:solidFill>
                  <a:schemeClr val="accent4"/>
                </a:solidFill>
                <a:latin typeface="Cambria" pitchFamily="34" charset="0"/>
                <a:ea typeface="Cambria" pitchFamily="34" charset="-122"/>
                <a:cs typeface="Cambria" pitchFamily="34" charset="-120"/>
              </a:rPr>
              <a:t>Tonight at 11:42, someone’s hand will drift to their hair. We want the next thing they hear to be their own voice: “It’s okay. I’ve got you.”</a:t>
            </a:r>
            <a:endParaRPr lang="en-US" sz="1900" dirty="0"/>
          </a:p>
        </p:txBody>
      </p:sp>
      <p:pic>
        <p:nvPicPr>
          <p:cNvPr id="31" name="Mochi" descr="Mochi waving">    </p:cNvPr>
          <p:cNvPicPr>
            <a:picLocks noChangeAspect="1"/>
          </p:cNvPicPr>
          <p:nvPr/>
        </p:nvPicPr>
        <p:blipFill>
          <a:blip r:embed="rId6"/>
          <a:stretch>
            <a:fillRect/>
          </a:stretch>
        </p:blipFill>
        <p:spPr>
          <a:xfrm>
            <a:off x="10469880" y="5230368"/>
            <a:ext cx="1005840" cy="1005840"/>
          </a:xfrm>
          <a:prstGeom prst="rect">
            <a:avLst/>
          </a:prstGeom>
        </p:spPr>
      </p:pic>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5A8EC"/>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TrichFree">
  <a:themeElements>
    <a:clrScheme name="TrichFree">
      <a:dk1>
        <a:srgbClr val="2A2640"/>
      </a:dk1>
      <a:lt1>
        <a:srgbClr val="FFFFFF"/>
      </a:lt1>
      <a:dk2>
        <a:srgbClr val="56478F"/>
      </a:dk2>
      <a:lt2>
        <a:srgbClr val="FBF8F4"/>
      </a:lt2>
      <a:accent1>
        <a:srgbClr val="6A5AA8"/>
      </a:accent1>
      <a:accent2>
        <a:srgbClr val="3F8A63"/>
      </a:accent2>
      <a:accent3>
        <a:srgbClr val="F6C453"/>
      </a:accent3>
      <a:accent4>
        <a:srgbClr val="ECE7F8"/>
      </a:accent4>
      <a:accent5>
        <a:srgbClr val="B5A8EC"/>
      </a:accent5>
      <a:accent6>
        <a:srgbClr val="5F5A75"/>
      </a:accent6>
      <a:hlink>
        <a:srgbClr val="6A5AA8"/>
      </a:hlink>
      <a:folHlink>
        <a:srgbClr val="56478F"/>
      </a:folHlink>
    </a:clrScheme>
    <a:fontScheme name="TrichFre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TrichFree — NUSC Impact Incubator pitch</dc:title>
  <dc:subject>PptxGenJS Presentation</dc:subject>
  <dc:creator>TrichFree team</dc:creator>
  <cp:lastModifiedBy>TrichFree team</cp:lastModifiedBy>
  <cp:revision>1</cp:revision>
  <dcterms:created xsi:type="dcterms:W3CDTF">2026-10-29T07:38:07Z</dcterms:created>
  <dcterms:modified xsi:type="dcterms:W3CDTF">2026-10-29T07:38:07Z</dcterms:modified>
</cp:coreProperties>
</file>